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19209-FC3A-42DF-B623-2FE53B9D2892}" type="datetimeFigureOut">
              <a:rPr lang="en-IN" smtClean="0"/>
              <a:t>09-09-2020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022F9-13B9-4C85-BCAA-2AD262A174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9610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19209-FC3A-42DF-B623-2FE53B9D2892}" type="datetimeFigureOut">
              <a:rPr lang="en-IN" smtClean="0"/>
              <a:t>09-09-2020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022F9-13B9-4C85-BCAA-2AD262A174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0312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19209-FC3A-42DF-B623-2FE53B9D2892}" type="datetimeFigureOut">
              <a:rPr lang="en-IN" smtClean="0"/>
              <a:t>09-09-2020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022F9-13B9-4C85-BCAA-2AD262A174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9967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19209-FC3A-42DF-B623-2FE53B9D2892}" type="datetimeFigureOut">
              <a:rPr lang="en-IN" smtClean="0"/>
              <a:t>09-09-2020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022F9-13B9-4C85-BCAA-2AD262A174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4266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19209-FC3A-42DF-B623-2FE53B9D2892}" type="datetimeFigureOut">
              <a:rPr lang="en-IN" smtClean="0"/>
              <a:t>09-09-2020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022F9-13B9-4C85-BCAA-2AD262A174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2900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19209-FC3A-42DF-B623-2FE53B9D2892}" type="datetimeFigureOut">
              <a:rPr lang="en-IN" smtClean="0"/>
              <a:t>09-09-2020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022F9-13B9-4C85-BCAA-2AD262A174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9854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19209-FC3A-42DF-B623-2FE53B9D2892}" type="datetimeFigureOut">
              <a:rPr lang="en-IN" smtClean="0"/>
              <a:t>09-09-2020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022F9-13B9-4C85-BCAA-2AD262A174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4674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19209-FC3A-42DF-B623-2FE53B9D2892}" type="datetimeFigureOut">
              <a:rPr lang="en-IN" smtClean="0"/>
              <a:t>09-09-2020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022F9-13B9-4C85-BCAA-2AD262A174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5535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022F9-13B9-4C85-BCAA-2AD262A17471}" type="slidenum">
              <a:rPr lang="en-IN" smtClean="0"/>
              <a:t>‹#›</a:t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19209-FC3A-42DF-B623-2FE53B9D2892}" type="datetimeFigureOut">
              <a:rPr lang="en-IN" smtClean="0"/>
              <a:t>09-09-2020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5367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19209-FC3A-42DF-B623-2FE53B9D2892}" type="datetimeFigureOut">
              <a:rPr lang="en-IN" smtClean="0"/>
              <a:t>09-09-2020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022F9-13B9-4C85-BCAA-2AD262A174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2278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19209-FC3A-42DF-B623-2FE53B9D2892}" type="datetimeFigureOut">
              <a:rPr lang="en-IN" smtClean="0"/>
              <a:t>09-09-2020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022F9-13B9-4C85-BCAA-2AD262A17471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272823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19209-FC3A-42DF-B623-2FE53B9D2892}" type="datetimeFigureOut">
              <a:rPr lang="en-IN" smtClean="0"/>
              <a:t>09-09-2020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022F9-13B9-4C85-BCAA-2AD262A174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12946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19209-FC3A-42DF-B623-2FE53B9D2892}" type="datetimeFigureOut">
              <a:rPr lang="en-IN" smtClean="0"/>
              <a:t>09-09-2020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022F9-13B9-4C85-BCAA-2AD262A17471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714228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19209-FC3A-42DF-B623-2FE53B9D2892}" type="datetimeFigureOut">
              <a:rPr lang="en-IN" smtClean="0"/>
              <a:t>09-09-2020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022F9-13B9-4C85-BCAA-2AD262A174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10752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19209-FC3A-42DF-B623-2FE53B9D2892}" type="datetimeFigureOut">
              <a:rPr lang="en-IN" smtClean="0"/>
              <a:t>09-09-2020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022F9-13B9-4C85-BCAA-2AD262A174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65000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19209-FC3A-42DF-B623-2FE53B9D2892}" type="datetimeFigureOut">
              <a:rPr lang="en-IN" smtClean="0"/>
              <a:t>09-09-2020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022F9-13B9-4C85-BCAA-2AD262A174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6374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E19209-FC3A-42DF-B623-2FE53B9D2892}" type="datetimeFigureOut">
              <a:rPr lang="en-IN" smtClean="0"/>
              <a:t>09-09-2020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6C022F9-13B9-4C85-BCAA-2AD262A174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9458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27577DEC-D9A5-404D-9789-702F4319B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EEA9366-CEA8-4F23-B065-4337F0D83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04A03D6-39B4-4278-9BE1-A07E02449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BE459AF-3736-4886-82E0-9B5DA427B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Rectangle 23">
              <a:extLst>
                <a:ext uri="{FF2B5EF4-FFF2-40B4-BE49-F238E27FC236}">
                  <a16:creationId xmlns:a16="http://schemas.microsoft.com/office/drawing/2014/main" id="{4B6B88EF-180C-4E39-8A3F-A52E87110C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7" name="Rectangle 25">
              <a:extLst>
                <a:ext uri="{FF2B5EF4-FFF2-40B4-BE49-F238E27FC236}">
                  <a16:creationId xmlns:a16="http://schemas.microsoft.com/office/drawing/2014/main" id="{52DFAACF-64D0-4621-8FF4-E2F03C3E8D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Isosceles Triangle 37">
              <a:extLst>
                <a:ext uri="{FF2B5EF4-FFF2-40B4-BE49-F238E27FC236}">
                  <a16:creationId xmlns:a16="http://schemas.microsoft.com/office/drawing/2014/main" id="{36611FF0-65B3-49DB-97C6-1B72AAD0FB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9" name="Rectangle 27">
              <a:extLst>
                <a:ext uri="{FF2B5EF4-FFF2-40B4-BE49-F238E27FC236}">
                  <a16:creationId xmlns:a16="http://schemas.microsoft.com/office/drawing/2014/main" id="{0F7407FE-86B1-4890-9D80-9406FBF29E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Rectangle 29">
              <a:extLst>
                <a:ext uri="{FF2B5EF4-FFF2-40B4-BE49-F238E27FC236}">
                  <a16:creationId xmlns:a16="http://schemas.microsoft.com/office/drawing/2014/main" id="{EBD42D5B-8F87-45B3-98B3-C66944F92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Isosceles Triangle 40">
              <a:extLst>
                <a:ext uri="{FF2B5EF4-FFF2-40B4-BE49-F238E27FC236}">
                  <a16:creationId xmlns:a16="http://schemas.microsoft.com/office/drawing/2014/main" id="{F5E04699-59E1-4468-9E7C-83070EEB42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42" name="Isosceles Triangle 41">
              <a:extLst>
                <a:ext uri="{FF2B5EF4-FFF2-40B4-BE49-F238E27FC236}">
                  <a16:creationId xmlns:a16="http://schemas.microsoft.com/office/drawing/2014/main" id="{F2AE8F13-9A52-4D7F-9637-321EA7CF32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DBCA8A96-6DC6-4F13-899C-CA7D586508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Manu Mathew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17F66C-4214-47B1-9344-39911179C9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>
            <a:normAutofit/>
          </a:bodyPr>
          <a:lstStyle/>
          <a:p>
            <a:r>
              <a:rPr lang="en-US" dirty="0"/>
              <a:t>Spring </a:t>
            </a:r>
            <a:r>
              <a:rPr lang="en-US"/>
              <a:t>Cloud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45522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B5F7E3B-C5F1-40E0-A491-558BAFBC1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241804" y="1460500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88BBAF9-9700-4C02-A2E5-1DC684309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445" y="811155"/>
            <a:ext cx="3367359" cy="5224724"/>
          </a:xfrm>
        </p:spPr>
        <p:txBody>
          <a:bodyPr anchor="ctr">
            <a:normAutofit/>
          </a:bodyPr>
          <a:lstStyle/>
          <a:p>
            <a:r>
              <a:rPr lang="en-US" dirty="0"/>
              <a:t>		Agenda</a:t>
            </a:r>
            <a:endParaRPr lang="en-IN" sz="4000" dirty="0"/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3965326D-BEB5-4EE1-ABAB-CF3B13ADB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816638"/>
            <a:ext cx="4619706" cy="5224724"/>
          </a:xfrm>
        </p:spPr>
        <p:txBody>
          <a:bodyPr anchor="ctr">
            <a:normAutofit/>
          </a:bodyPr>
          <a:lstStyle/>
          <a:p>
            <a:r>
              <a:rPr lang="en-US" sz="2000" dirty="0"/>
              <a:t>Introduction</a:t>
            </a:r>
          </a:p>
          <a:p>
            <a:r>
              <a:rPr lang="en-US" sz="2000" dirty="0"/>
              <a:t>Spring cloud projects</a:t>
            </a:r>
          </a:p>
          <a:p>
            <a:r>
              <a:rPr lang="en-US" sz="2000" dirty="0"/>
              <a:t>Hands-on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500797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BBAF9-9700-4C02-A2E5-1DC684309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952" y="634767"/>
            <a:ext cx="8596668" cy="724250"/>
          </a:xfrm>
        </p:spPr>
        <p:txBody>
          <a:bodyPr>
            <a:normAutofit/>
          </a:bodyPr>
          <a:lstStyle/>
          <a:p>
            <a:r>
              <a:rPr lang="en-US" dirty="0"/>
              <a:t>	Spring cloud</a:t>
            </a:r>
            <a:endParaRPr lang="en-IN" dirty="0"/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3965326D-BEB5-4EE1-ABAB-CF3B13ADB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952" y="998289"/>
            <a:ext cx="7307159" cy="1029537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Suite of </a:t>
            </a:r>
            <a:r>
              <a:rPr lang="en-US"/>
              <a:t>projects contains </a:t>
            </a:r>
            <a:r>
              <a:rPr lang="en-US" dirty="0"/>
              <a:t>many services that help our application run on cloud</a:t>
            </a:r>
          </a:p>
          <a:p>
            <a:r>
              <a:rPr lang="en-US" dirty="0"/>
              <a:t>With a few simple annotations we can quickly enable and configure the common patterns inside our application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5CDDC4-C6F9-4809-B555-9A0235C97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895" y="2818702"/>
            <a:ext cx="7801762" cy="334404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97604EF-DB0C-41B9-AE09-7948F07421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952" y="765924"/>
            <a:ext cx="470086" cy="421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12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B5406-BCBA-48AC-850D-73808DE1A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Feign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67205-315A-401F-AE89-727140163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4450793"/>
          </a:xfrm>
        </p:spPr>
        <p:txBody>
          <a:bodyPr>
            <a:normAutofit/>
          </a:bodyPr>
          <a:lstStyle/>
          <a:p>
            <a:r>
              <a:rPr lang="en-IN" dirty="0"/>
              <a:t>Declarative REST client used in microservices communication</a:t>
            </a:r>
          </a:p>
          <a:p>
            <a:r>
              <a:rPr lang="en-IN" dirty="0">
                <a:solidFill>
                  <a:srgbClr val="000000"/>
                </a:solidFill>
                <a:latin typeface="open sans" panose="020B0606030504020204" pitchFamily="34" charset="0"/>
              </a:rPr>
              <a:t>Provides abstraction over REST-based calls</a:t>
            </a:r>
          </a:p>
          <a:p>
            <a:r>
              <a:rPr lang="en-US" dirty="0">
                <a:solidFill>
                  <a:srgbClr val="000000"/>
                </a:solidFill>
                <a:latin typeface="open sans" panose="020B0606030504020204" pitchFamily="34" charset="0"/>
              </a:rPr>
              <a:t>W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riting web service clients easier</a:t>
            </a: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latin typeface="open sans" panose="020B060603050402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open sans" panose="020B0606030504020204" pitchFamily="34" charset="0"/>
              </a:rPr>
              <a:t>Annotation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open sans" panose="020B0606030504020204" pitchFamily="34" charset="0"/>
              </a:rPr>
              <a:t>@EnableFeignClients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open sans" panose="020B0606030504020204" pitchFamily="34" charset="0"/>
              </a:rPr>
              <a:t>@FeignClient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open sans" panose="020B0606030504020204" pitchFamily="34" charset="0"/>
              </a:rPr>
              <a:t>Maven dependency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open sans" panose="020B0606030504020204" pitchFamily="34" charset="0"/>
              </a:rPr>
              <a:t>&lt;dependency&gt;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open sans" panose="020B0606030504020204" pitchFamily="34" charset="0"/>
              </a:rPr>
              <a:t>	&lt;</a:t>
            </a:r>
            <a:r>
              <a:rPr lang="en-US" sz="1100" dirty="0" err="1">
                <a:solidFill>
                  <a:srgbClr val="000000"/>
                </a:solidFill>
                <a:latin typeface="open sans" panose="020B0606030504020204" pitchFamily="34" charset="0"/>
              </a:rPr>
              <a:t>groupId</a:t>
            </a:r>
            <a:r>
              <a:rPr lang="en-US" sz="1100" dirty="0">
                <a:solidFill>
                  <a:srgbClr val="000000"/>
                </a:solidFill>
                <a:latin typeface="open sans" panose="020B0606030504020204" pitchFamily="34" charset="0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open sans" panose="020B0606030504020204" pitchFamily="34" charset="0"/>
              </a:rPr>
              <a:t>org.springframework.cloud</a:t>
            </a:r>
            <a:r>
              <a:rPr lang="en-US" sz="1100" dirty="0">
                <a:solidFill>
                  <a:srgbClr val="000000"/>
                </a:solidFill>
                <a:latin typeface="open sans" panose="020B0606030504020204" pitchFamily="34" charset="0"/>
              </a:rPr>
              <a:t>&lt;/</a:t>
            </a:r>
            <a:r>
              <a:rPr lang="en-US" sz="1100" dirty="0" err="1">
                <a:solidFill>
                  <a:srgbClr val="000000"/>
                </a:solidFill>
                <a:latin typeface="open sans" panose="020B0606030504020204" pitchFamily="34" charset="0"/>
              </a:rPr>
              <a:t>groupId</a:t>
            </a:r>
            <a:r>
              <a:rPr lang="en-US" sz="1100" dirty="0">
                <a:solidFill>
                  <a:srgbClr val="000000"/>
                </a:solidFill>
                <a:latin typeface="open sans" panose="020B0606030504020204" pitchFamily="34" charset="0"/>
              </a:rPr>
              <a:t>&gt;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open sans" panose="020B0606030504020204" pitchFamily="34" charset="0"/>
              </a:rPr>
              <a:t>	&lt;</a:t>
            </a:r>
            <a:r>
              <a:rPr lang="en-US" sz="1100" dirty="0" err="1">
                <a:solidFill>
                  <a:srgbClr val="000000"/>
                </a:solidFill>
                <a:latin typeface="open sans" panose="020B0606030504020204" pitchFamily="34" charset="0"/>
              </a:rPr>
              <a:t>artifactId</a:t>
            </a:r>
            <a:r>
              <a:rPr lang="en-US" sz="1100" dirty="0">
                <a:solidFill>
                  <a:srgbClr val="000000"/>
                </a:solidFill>
                <a:latin typeface="open sans" panose="020B0606030504020204" pitchFamily="34" charset="0"/>
              </a:rPr>
              <a:t>&gt;spring-cloud-starter-</a:t>
            </a:r>
            <a:r>
              <a:rPr lang="en-US" sz="1100" dirty="0" err="1">
                <a:solidFill>
                  <a:srgbClr val="000000"/>
                </a:solidFill>
                <a:latin typeface="open sans" panose="020B0606030504020204" pitchFamily="34" charset="0"/>
              </a:rPr>
              <a:t>openfeign</a:t>
            </a:r>
            <a:r>
              <a:rPr lang="en-US" sz="1100" dirty="0">
                <a:solidFill>
                  <a:srgbClr val="000000"/>
                </a:solidFill>
                <a:latin typeface="open sans" panose="020B0606030504020204" pitchFamily="34" charset="0"/>
              </a:rPr>
              <a:t>&lt;/</a:t>
            </a:r>
            <a:r>
              <a:rPr lang="en-US" sz="1100" dirty="0" err="1">
                <a:solidFill>
                  <a:srgbClr val="000000"/>
                </a:solidFill>
                <a:latin typeface="open sans" panose="020B0606030504020204" pitchFamily="34" charset="0"/>
              </a:rPr>
              <a:t>artifactId</a:t>
            </a:r>
            <a:r>
              <a:rPr lang="en-US" sz="1100" dirty="0">
                <a:solidFill>
                  <a:srgbClr val="000000"/>
                </a:solidFill>
                <a:latin typeface="open sans" panose="020B0606030504020204" pitchFamily="34" charset="0"/>
              </a:rPr>
              <a:t>&gt;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open sans" panose="020B0606030504020204" pitchFamily="34" charset="0"/>
              </a:rPr>
              <a:t>&lt;/dependency&gt;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9DD361-653E-4901-83EC-ED81EF439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5239" y="2416629"/>
            <a:ext cx="4563045" cy="1875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946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B5406-BCBA-48AC-850D-73808DE1A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Ribbon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67205-315A-401F-AE89-727140163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4450793"/>
          </a:xfrm>
        </p:spPr>
        <p:txBody>
          <a:bodyPr>
            <a:normAutofit/>
          </a:bodyPr>
          <a:lstStyle/>
          <a:p>
            <a:r>
              <a:rPr lang="en-IN" dirty="0"/>
              <a:t>Client-side load balancer</a:t>
            </a:r>
          </a:p>
          <a:p>
            <a:r>
              <a:rPr lang="en-IN" dirty="0"/>
              <a:t>Distribute</a:t>
            </a:r>
            <a:r>
              <a:rPr lang="en-US" dirty="0"/>
              <a:t> load to the instances</a:t>
            </a:r>
            <a:endParaRPr lang="en-IN" dirty="0"/>
          </a:p>
          <a:p>
            <a:r>
              <a:rPr lang="en-IN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Feign uses Ribbon</a:t>
            </a:r>
            <a:endParaRPr lang="en-US" b="0" i="0" dirty="0">
              <a:solidFill>
                <a:srgbClr val="000000"/>
              </a:solidFill>
              <a:effectLst/>
              <a:latin typeface="open sans" panose="020B0606030504020204" pitchFamily="34" charset="0"/>
            </a:endParaRP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latin typeface="open sans" panose="020B0606030504020204" pitchFamily="34" charset="0"/>
            </a:endParaRP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latin typeface="open sans" panose="020B060603050402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open sans" panose="020B0606030504020204" pitchFamily="34" charset="0"/>
              </a:rPr>
              <a:t>Annotation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open sans" panose="020B0606030504020204" pitchFamily="34" charset="0"/>
              </a:rPr>
              <a:t>@RibbonClient</a:t>
            </a:r>
          </a:p>
          <a:p>
            <a:pPr marL="400050" lvl="1" indent="0">
              <a:spcBef>
                <a:spcPts val="0"/>
              </a:spcBef>
              <a:buNone/>
            </a:pPr>
            <a:endParaRPr lang="en-US" sz="1100" dirty="0">
              <a:solidFill>
                <a:srgbClr val="000000"/>
              </a:solidFill>
              <a:latin typeface="open sans" panose="020B060603050402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open sans" panose="020B0606030504020204" pitchFamily="34" charset="0"/>
              </a:rPr>
              <a:t>Maven dependency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open sans" panose="020B0606030504020204" pitchFamily="34" charset="0"/>
              </a:rPr>
              <a:t>&lt;dependency&gt;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open sans" panose="020B0606030504020204" pitchFamily="34" charset="0"/>
              </a:rPr>
              <a:t>	&lt;</a:t>
            </a:r>
            <a:r>
              <a:rPr lang="en-US" sz="1100" dirty="0" err="1">
                <a:solidFill>
                  <a:srgbClr val="000000"/>
                </a:solidFill>
                <a:latin typeface="open sans" panose="020B0606030504020204" pitchFamily="34" charset="0"/>
              </a:rPr>
              <a:t>groupId</a:t>
            </a:r>
            <a:r>
              <a:rPr lang="en-US" sz="1100" dirty="0">
                <a:solidFill>
                  <a:srgbClr val="000000"/>
                </a:solidFill>
                <a:latin typeface="open sans" panose="020B0606030504020204" pitchFamily="34" charset="0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open sans" panose="020B0606030504020204" pitchFamily="34" charset="0"/>
              </a:rPr>
              <a:t>org.springframework.cloud</a:t>
            </a:r>
            <a:r>
              <a:rPr lang="en-US" sz="1100" dirty="0">
                <a:solidFill>
                  <a:srgbClr val="000000"/>
                </a:solidFill>
                <a:latin typeface="open sans" panose="020B0606030504020204" pitchFamily="34" charset="0"/>
              </a:rPr>
              <a:t>&lt;/</a:t>
            </a:r>
            <a:r>
              <a:rPr lang="en-US" sz="1100" dirty="0" err="1">
                <a:solidFill>
                  <a:srgbClr val="000000"/>
                </a:solidFill>
                <a:latin typeface="open sans" panose="020B0606030504020204" pitchFamily="34" charset="0"/>
              </a:rPr>
              <a:t>groupId</a:t>
            </a:r>
            <a:r>
              <a:rPr lang="en-US" sz="1100" dirty="0">
                <a:solidFill>
                  <a:srgbClr val="000000"/>
                </a:solidFill>
                <a:latin typeface="open sans" panose="020B0606030504020204" pitchFamily="34" charset="0"/>
              </a:rPr>
              <a:t>&gt;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open sans" panose="020B0606030504020204" pitchFamily="34" charset="0"/>
              </a:rPr>
              <a:t>	&lt;</a:t>
            </a:r>
            <a:r>
              <a:rPr lang="en-US" sz="1100" dirty="0" err="1">
                <a:solidFill>
                  <a:srgbClr val="000000"/>
                </a:solidFill>
                <a:latin typeface="open sans" panose="020B0606030504020204" pitchFamily="34" charset="0"/>
              </a:rPr>
              <a:t>artifactId</a:t>
            </a:r>
            <a:r>
              <a:rPr lang="en-US" sz="1100" dirty="0">
                <a:solidFill>
                  <a:srgbClr val="000000"/>
                </a:solidFill>
                <a:latin typeface="open sans" panose="020B0606030504020204" pitchFamily="34" charset="0"/>
              </a:rPr>
              <a:t>&gt;</a:t>
            </a:r>
            <a:r>
              <a:rPr lang="en-IN" sz="1100" dirty="0">
                <a:solidFill>
                  <a:srgbClr val="000000"/>
                </a:solidFill>
                <a:latin typeface="open sans" panose="020B0606030504020204" pitchFamily="34" charset="0"/>
              </a:rPr>
              <a:t>spring-cloud-starter-</a:t>
            </a:r>
            <a:r>
              <a:rPr lang="en-IN" sz="1100" dirty="0" err="1">
                <a:solidFill>
                  <a:srgbClr val="000000"/>
                </a:solidFill>
                <a:latin typeface="open sans" panose="020B0606030504020204" pitchFamily="34" charset="0"/>
              </a:rPr>
              <a:t>netflix</a:t>
            </a:r>
            <a:r>
              <a:rPr lang="en-IN" sz="1100" dirty="0">
                <a:solidFill>
                  <a:srgbClr val="000000"/>
                </a:solidFill>
                <a:latin typeface="open sans" panose="020B0606030504020204" pitchFamily="34" charset="0"/>
              </a:rPr>
              <a:t>-ribbon</a:t>
            </a:r>
            <a:r>
              <a:rPr lang="en-US" sz="1100" dirty="0">
                <a:solidFill>
                  <a:srgbClr val="000000"/>
                </a:solidFill>
                <a:latin typeface="open sans" panose="020B0606030504020204" pitchFamily="34" charset="0"/>
              </a:rPr>
              <a:t>&lt;/</a:t>
            </a:r>
            <a:r>
              <a:rPr lang="en-US" sz="1100" dirty="0" err="1">
                <a:solidFill>
                  <a:srgbClr val="000000"/>
                </a:solidFill>
                <a:latin typeface="open sans" panose="020B0606030504020204" pitchFamily="34" charset="0"/>
              </a:rPr>
              <a:t>artifactId</a:t>
            </a:r>
            <a:r>
              <a:rPr lang="en-US" sz="1100" dirty="0">
                <a:solidFill>
                  <a:srgbClr val="000000"/>
                </a:solidFill>
                <a:latin typeface="open sans" panose="020B0606030504020204" pitchFamily="34" charset="0"/>
              </a:rPr>
              <a:t>&gt;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open sans" panose="020B0606030504020204" pitchFamily="34" charset="0"/>
              </a:rPr>
              <a:t>&lt;/dependency&gt;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72621B-40CE-4D42-B3E1-D7E314727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6600" y="1212980"/>
            <a:ext cx="5061293" cy="3237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600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B5406-BCBA-48AC-850D-73808DE1A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Eureka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67205-315A-401F-AE89-727140163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4987688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Service discovery server and client</a:t>
            </a:r>
          </a:p>
          <a:p>
            <a:r>
              <a:rPr lang="en-IN" dirty="0"/>
              <a:t>REST based service</a:t>
            </a:r>
          </a:p>
          <a:p>
            <a:r>
              <a:rPr lang="en-IN" dirty="0"/>
              <a:t>Eureka client instances will register with eureka server</a:t>
            </a:r>
          </a:p>
          <a:p>
            <a:r>
              <a:rPr lang="en-IN" dirty="0"/>
              <a:t>Client and server have local cache of the instance's registry</a:t>
            </a: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latin typeface="open sans" panose="020B0606030504020204" pitchFamily="34" charset="0"/>
            </a:endParaRP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latin typeface="open sans" panose="020B060603050402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open sans" panose="020B0606030504020204" pitchFamily="34" charset="0"/>
              </a:rPr>
              <a:t>Annotation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open sans" panose="020B0606030504020204" pitchFamily="34" charset="0"/>
              </a:rPr>
              <a:t>           	</a:t>
            </a:r>
            <a:r>
              <a:rPr lang="en-US" sz="1200" dirty="0">
                <a:solidFill>
                  <a:srgbClr val="000000"/>
                </a:solidFill>
                <a:latin typeface="open sans" panose="020B0606030504020204" pitchFamily="34" charset="0"/>
              </a:rPr>
              <a:t>Server	- @EnableEurekaServer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open sans" panose="020B0606030504020204" pitchFamily="34" charset="0"/>
              </a:rPr>
              <a:t>	Client 	- @EnableEurekaClient</a:t>
            </a:r>
          </a:p>
          <a:p>
            <a:pPr marL="400050" lvl="1" indent="0">
              <a:spcBef>
                <a:spcPts val="0"/>
              </a:spcBef>
              <a:buNone/>
            </a:pPr>
            <a:endParaRPr lang="en-US" sz="1100" dirty="0">
              <a:solidFill>
                <a:srgbClr val="000000"/>
              </a:solidFill>
              <a:latin typeface="open sans" panose="020B0606030504020204" pitchFamily="34" charset="0"/>
            </a:endParaRP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latin typeface="open sans" panose="020B060603050402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open sans" panose="020B0606030504020204" pitchFamily="34" charset="0"/>
              </a:rPr>
              <a:t>Maven dependency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open sans" panose="020B0606030504020204" pitchFamily="34" charset="0"/>
              </a:rPr>
              <a:t>Server	-</a:t>
            </a:r>
          </a:p>
          <a:p>
            <a:pPr marL="800100" lvl="2" indent="0">
              <a:spcBef>
                <a:spcPts val="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open sans" panose="020B0606030504020204" pitchFamily="34" charset="0"/>
              </a:rPr>
              <a:t>&lt;dependency&gt;</a:t>
            </a:r>
          </a:p>
          <a:p>
            <a:pPr marL="800100" lvl="2" indent="0">
              <a:spcBef>
                <a:spcPts val="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open sans" panose="020B0606030504020204" pitchFamily="34" charset="0"/>
              </a:rPr>
              <a:t>	&lt;</a:t>
            </a:r>
            <a:r>
              <a:rPr lang="en-US" sz="1200" dirty="0" err="1">
                <a:solidFill>
                  <a:srgbClr val="000000"/>
                </a:solidFill>
                <a:latin typeface="open sans" panose="020B0606030504020204" pitchFamily="34" charset="0"/>
              </a:rPr>
              <a:t>groupId</a:t>
            </a:r>
            <a:r>
              <a:rPr lang="en-US" sz="1200" dirty="0">
                <a:solidFill>
                  <a:srgbClr val="000000"/>
                </a:solidFill>
                <a:latin typeface="open sans" panose="020B0606030504020204" pitchFamily="34" charset="0"/>
              </a:rPr>
              <a:t>&gt;</a:t>
            </a:r>
            <a:r>
              <a:rPr lang="en-US" sz="1200" dirty="0" err="1">
                <a:solidFill>
                  <a:srgbClr val="000000"/>
                </a:solidFill>
                <a:latin typeface="open sans" panose="020B0606030504020204" pitchFamily="34" charset="0"/>
              </a:rPr>
              <a:t>org.springframework.cloud</a:t>
            </a:r>
            <a:r>
              <a:rPr lang="en-US" sz="1200" dirty="0">
                <a:solidFill>
                  <a:srgbClr val="000000"/>
                </a:solidFill>
                <a:latin typeface="open sans" panose="020B0606030504020204" pitchFamily="34" charset="0"/>
              </a:rPr>
              <a:t>&lt;/</a:t>
            </a:r>
            <a:r>
              <a:rPr lang="en-US" sz="1200" dirty="0" err="1">
                <a:solidFill>
                  <a:srgbClr val="000000"/>
                </a:solidFill>
                <a:latin typeface="open sans" panose="020B0606030504020204" pitchFamily="34" charset="0"/>
              </a:rPr>
              <a:t>groupId</a:t>
            </a:r>
            <a:r>
              <a:rPr lang="en-US" sz="1200" dirty="0">
                <a:solidFill>
                  <a:srgbClr val="000000"/>
                </a:solidFill>
                <a:latin typeface="open sans" panose="020B0606030504020204" pitchFamily="34" charset="0"/>
              </a:rPr>
              <a:t>&gt;</a:t>
            </a:r>
          </a:p>
          <a:p>
            <a:pPr marL="800100" lvl="2" indent="0">
              <a:spcBef>
                <a:spcPts val="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open sans" panose="020B0606030504020204" pitchFamily="34" charset="0"/>
              </a:rPr>
              <a:t>	&lt;</a:t>
            </a:r>
            <a:r>
              <a:rPr lang="en-US" sz="1200" dirty="0" err="1">
                <a:solidFill>
                  <a:srgbClr val="000000"/>
                </a:solidFill>
                <a:latin typeface="open sans" panose="020B0606030504020204" pitchFamily="34" charset="0"/>
              </a:rPr>
              <a:t>artifactId</a:t>
            </a:r>
            <a:r>
              <a:rPr lang="en-US" sz="1200" dirty="0">
                <a:solidFill>
                  <a:srgbClr val="000000"/>
                </a:solidFill>
                <a:latin typeface="open sans" panose="020B0606030504020204" pitchFamily="34" charset="0"/>
              </a:rPr>
              <a:t>&gt;</a:t>
            </a:r>
            <a:r>
              <a:rPr lang="en-IN" sz="1200" dirty="0">
                <a:solidFill>
                  <a:srgbClr val="000000"/>
                </a:solidFill>
                <a:latin typeface="open sans" panose="020B0606030504020204" pitchFamily="34" charset="0"/>
              </a:rPr>
              <a:t>spring-cloud-starter-</a:t>
            </a:r>
            <a:r>
              <a:rPr lang="en-IN" sz="1200" dirty="0" err="1">
                <a:solidFill>
                  <a:srgbClr val="000000"/>
                </a:solidFill>
                <a:latin typeface="open sans" panose="020B0606030504020204" pitchFamily="34" charset="0"/>
              </a:rPr>
              <a:t>netflix</a:t>
            </a:r>
            <a:r>
              <a:rPr lang="en-IN" sz="1200" dirty="0">
                <a:solidFill>
                  <a:srgbClr val="000000"/>
                </a:solidFill>
                <a:latin typeface="open sans" panose="020B0606030504020204" pitchFamily="34" charset="0"/>
              </a:rPr>
              <a:t>-eureka-server</a:t>
            </a:r>
            <a:r>
              <a:rPr lang="en-US" sz="1200" dirty="0">
                <a:solidFill>
                  <a:srgbClr val="000000"/>
                </a:solidFill>
                <a:latin typeface="open sans" panose="020B0606030504020204" pitchFamily="34" charset="0"/>
              </a:rPr>
              <a:t>&lt;/</a:t>
            </a:r>
            <a:r>
              <a:rPr lang="en-US" sz="1200" dirty="0" err="1">
                <a:solidFill>
                  <a:srgbClr val="000000"/>
                </a:solidFill>
                <a:latin typeface="open sans" panose="020B0606030504020204" pitchFamily="34" charset="0"/>
              </a:rPr>
              <a:t>artifactId</a:t>
            </a:r>
            <a:r>
              <a:rPr lang="en-US" sz="1200" dirty="0">
                <a:solidFill>
                  <a:srgbClr val="000000"/>
                </a:solidFill>
                <a:latin typeface="open sans" panose="020B0606030504020204" pitchFamily="34" charset="0"/>
              </a:rPr>
              <a:t>&gt;</a:t>
            </a:r>
          </a:p>
          <a:p>
            <a:pPr marL="800100" lvl="2" indent="0">
              <a:spcBef>
                <a:spcPts val="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open sans" panose="020B0606030504020204" pitchFamily="34" charset="0"/>
              </a:rPr>
              <a:t>&lt;/dependency&gt;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open sans" panose="020B0606030504020204" pitchFamily="34" charset="0"/>
              </a:rPr>
              <a:t>Client	-</a:t>
            </a:r>
          </a:p>
          <a:p>
            <a:pPr marL="800100" lvl="2" indent="0">
              <a:spcBef>
                <a:spcPts val="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open sans" panose="020B0606030504020204" pitchFamily="34" charset="0"/>
              </a:rPr>
              <a:t>&lt;dependency&gt;</a:t>
            </a:r>
          </a:p>
          <a:p>
            <a:pPr marL="800100" lvl="2" indent="0">
              <a:spcBef>
                <a:spcPts val="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open sans" panose="020B0606030504020204" pitchFamily="34" charset="0"/>
              </a:rPr>
              <a:t>	&lt;</a:t>
            </a:r>
            <a:r>
              <a:rPr lang="en-US" sz="1200" dirty="0" err="1">
                <a:solidFill>
                  <a:srgbClr val="000000"/>
                </a:solidFill>
                <a:latin typeface="open sans" panose="020B0606030504020204" pitchFamily="34" charset="0"/>
              </a:rPr>
              <a:t>groupId</a:t>
            </a:r>
            <a:r>
              <a:rPr lang="en-US" sz="1200" dirty="0">
                <a:solidFill>
                  <a:srgbClr val="000000"/>
                </a:solidFill>
                <a:latin typeface="open sans" panose="020B0606030504020204" pitchFamily="34" charset="0"/>
              </a:rPr>
              <a:t>&gt;</a:t>
            </a:r>
            <a:r>
              <a:rPr lang="en-US" sz="1200" dirty="0" err="1">
                <a:solidFill>
                  <a:srgbClr val="000000"/>
                </a:solidFill>
                <a:latin typeface="open sans" panose="020B0606030504020204" pitchFamily="34" charset="0"/>
              </a:rPr>
              <a:t>org.springframework.cloud</a:t>
            </a:r>
            <a:r>
              <a:rPr lang="en-US" sz="1200" dirty="0">
                <a:solidFill>
                  <a:srgbClr val="000000"/>
                </a:solidFill>
                <a:latin typeface="open sans" panose="020B0606030504020204" pitchFamily="34" charset="0"/>
              </a:rPr>
              <a:t>&lt;/</a:t>
            </a:r>
            <a:r>
              <a:rPr lang="en-US" sz="1200" dirty="0" err="1">
                <a:solidFill>
                  <a:srgbClr val="000000"/>
                </a:solidFill>
                <a:latin typeface="open sans" panose="020B0606030504020204" pitchFamily="34" charset="0"/>
              </a:rPr>
              <a:t>groupId</a:t>
            </a:r>
            <a:r>
              <a:rPr lang="en-US" sz="1200" dirty="0">
                <a:solidFill>
                  <a:srgbClr val="000000"/>
                </a:solidFill>
                <a:latin typeface="open sans" panose="020B0606030504020204" pitchFamily="34" charset="0"/>
              </a:rPr>
              <a:t>&gt;</a:t>
            </a:r>
          </a:p>
          <a:p>
            <a:pPr marL="800100" lvl="2" indent="0">
              <a:spcBef>
                <a:spcPts val="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open sans" panose="020B0606030504020204" pitchFamily="34" charset="0"/>
              </a:rPr>
              <a:t>	&lt;</a:t>
            </a:r>
            <a:r>
              <a:rPr lang="en-US" sz="1200" dirty="0" err="1">
                <a:solidFill>
                  <a:srgbClr val="000000"/>
                </a:solidFill>
                <a:latin typeface="open sans" panose="020B0606030504020204" pitchFamily="34" charset="0"/>
              </a:rPr>
              <a:t>artifactId</a:t>
            </a:r>
            <a:r>
              <a:rPr lang="en-US" sz="1200" dirty="0">
                <a:solidFill>
                  <a:srgbClr val="000000"/>
                </a:solidFill>
                <a:latin typeface="open sans" panose="020B0606030504020204" pitchFamily="34" charset="0"/>
              </a:rPr>
              <a:t>&gt;</a:t>
            </a:r>
            <a:r>
              <a:rPr lang="en-IN" sz="1200" dirty="0">
                <a:solidFill>
                  <a:srgbClr val="000000"/>
                </a:solidFill>
                <a:latin typeface="open sans" panose="020B0606030504020204" pitchFamily="34" charset="0"/>
              </a:rPr>
              <a:t>spring-cloud-starter-</a:t>
            </a:r>
            <a:r>
              <a:rPr lang="en-IN" sz="1200" dirty="0" err="1">
                <a:solidFill>
                  <a:srgbClr val="000000"/>
                </a:solidFill>
                <a:latin typeface="open sans" panose="020B0606030504020204" pitchFamily="34" charset="0"/>
              </a:rPr>
              <a:t>netflix</a:t>
            </a:r>
            <a:r>
              <a:rPr lang="en-IN" sz="1200" dirty="0">
                <a:solidFill>
                  <a:srgbClr val="000000"/>
                </a:solidFill>
                <a:latin typeface="open sans" panose="020B0606030504020204" pitchFamily="34" charset="0"/>
              </a:rPr>
              <a:t>-eureka-client</a:t>
            </a:r>
            <a:r>
              <a:rPr lang="en-US" sz="1200" dirty="0">
                <a:solidFill>
                  <a:srgbClr val="000000"/>
                </a:solidFill>
                <a:latin typeface="open sans" panose="020B0606030504020204" pitchFamily="34" charset="0"/>
              </a:rPr>
              <a:t>&lt;/</a:t>
            </a:r>
            <a:r>
              <a:rPr lang="en-US" sz="1200" dirty="0" err="1">
                <a:solidFill>
                  <a:srgbClr val="000000"/>
                </a:solidFill>
                <a:latin typeface="open sans" panose="020B0606030504020204" pitchFamily="34" charset="0"/>
              </a:rPr>
              <a:t>artifactId</a:t>
            </a:r>
            <a:r>
              <a:rPr lang="en-US" sz="1200" dirty="0">
                <a:solidFill>
                  <a:srgbClr val="000000"/>
                </a:solidFill>
                <a:latin typeface="open sans" panose="020B0606030504020204" pitchFamily="34" charset="0"/>
              </a:rPr>
              <a:t>&gt;</a:t>
            </a:r>
          </a:p>
          <a:p>
            <a:pPr marL="800100" lvl="2" indent="0">
              <a:spcBef>
                <a:spcPts val="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open sans" panose="020B0606030504020204" pitchFamily="34" charset="0"/>
              </a:rPr>
              <a:t>&lt;/dependency&gt;</a:t>
            </a:r>
          </a:p>
          <a:p>
            <a:pPr marL="400050" lvl="1" indent="0">
              <a:spcBef>
                <a:spcPts val="0"/>
              </a:spcBef>
              <a:buNone/>
            </a:pPr>
            <a:endParaRPr lang="en-US" sz="1100" dirty="0">
              <a:solidFill>
                <a:srgbClr val="000000"/>
              </a:solidFill>
              <a:latin typeface="open sans" panose="020B0606030504020204" pitchFamily="34" charset="0"/>
            </a:endParaRP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AC22FE-9981-46C8-A652-CEAB64F770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5690" y="2863747"/>
            <a:ext cx="6541153" cy="3294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652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B5406-BCBA-48AC-850D-73808DE1A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Hystrix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67205-315A-401F-AE89-727140163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4987688"/>
          </a:xfrm>
        </p:spPr>
        <p:txBody>
          <a:bodyPr>
            <a:normAutofit/>
          </a:bodyPr>
          <a:lstStyle/>
          <a:p>
            <a:r>
              <a:rPr lang="en-US" dirty="0"/>
              <a:t>Control the interactions between distributed services by adding latency tolerance and fault tolerance logic</a:t>
            </a:r>
            <a:endParaRPr lang="en-IN" dirty="0"/>
          </a:p>
          <a:p>
            <a:r>
              <a:rPr lang="en-US" dirty="0"/>
              <a:t>Stop cascading failure and enable resilience in microservice </a:t>
            </a:r>
            <a:r>
              <a:rPr lang="en-IN" dirty="0"/>
              <a:t>applications</a:t>
            </a:r>
          </a:p>
          <a:p>
            <a:r>
              <a:rPr lang="en-US" dirty="0"/>
              <a:t>Provide circuit breaking and fallback support</a:t>
            </a: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latin typeface="open sans" panose="020B060603050402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open sans" panose="020B0606030504020204" pitchFamily="34" charset="0"/>
              </a:rPr>
              <a:t>Annotation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open sans" panose="020B0606030504020204" pitchFamily="34" charset="0"/>
              </a:rPr>
              <a:t>           	@</a:t>
            </a:r>
            <a:r>
              <a:rPr lang="en-IN" sz="1100" dirty="0">
                <a:solidFill>
                  <a:srgbClr val="000000"/>
                </a:solidFill>
                <a:latin typeface="open sans" panose="020B0606030504020204" pitchFamily="34" charset="0"/>
              </a:rPr>
              <a:t>EnableCircuitBreaker</a:t>
            </a:r>
            <a:endParaRPr lang="en-US" sz="1100" dirty="0">
              <a:solidFill>
                <a:srgbClr val="000000"/>
              </a:solidFill>
              <a:latin typeface="open sans" panose="020B060603050402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open sans" panose="020B0606030504020204" pitchFamily="34" charset="0"/>
              </a:rPr>
              <a:t>	@HystrixCommand</a:t>
            </a:r>
          </a:p>
          <a:p>
            <a:pPr marL="400050" lvl="1" indent="0">
              <a:spcBef>
                <a:spcPts val="0"/>
              </a:spcBef>
              <a:buNone/>
            </a:pPr>
            <a:endParaRPr lang="en-US" sz="1100" dirty="0">
              <a:solidFill>
                <a:srgbClr val="000000"/>
              </a:solidFill>
              <a:latin typeface="open sans" panose="020B060603050402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open sans" panose="020B0606030504020204" pitchFamily="34" charset="0"/>
              </a:rPr>
              <a:t>Maven dependency</a:t>
            </a:r>
          </a:p>
          <a:p>
            <a:pPr marL="400050" lvl="2" indent="0">
              <a:spcBef>
                <a:spcPts val="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open sans" panose="020B0606030504020204" pitchFamily="34" charset="0"/>
              </a:rPr>
              <a:t>&lt;dependency&gt;</a:t>
            </a:r>
          </a:p>
          <a:p>
            <a:pPr marL="400050" lvl="2" indent="0">
              <a:spcBef>
                <a:spcPts val="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open sans" panose="020B0606030504020204" pitchFamily="34" charset="0"/>
              </a:rPr>
              <a:t>	&lt;</a:t>
            </a:r>
            <a:r>
              <a:rPr lang="en-US" sz="1100" dirty="0" err="1">
                <a:solidFill>
                  <a:srgbClr val="000000"/>
                </a:solidFill>
                <a:latin typeface="open sans" panose="020B0606030504020204" pitchFamily="34" charset="0"/>
              </a:rPr>
              <a:t>groupId</a:t>
            </a:r>
            <a:r>
              <a:rPr lang="en-US" sz="1100" dirty="0">
                <a:solidFill>
                  <a:srgbClr val="000000"/>
                </a:solidFill>
                <a:latin typeface="open sans" panose="020B0606030504020204" pitchFamily="34" charset="0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open sans" panose="020B0606030504020204" pitchFamily="34" charset="0"/>
              </a:rPr>
              <a:t>org.springframework.cloud</a:t>
            </a:r>
            <a:r>
              <a:rPr lang="en-US" sz="1100" dirty="0">
                <a:solidFill>
                  <a:srgbClr val="000000"/>
                </a:solidFill>
                <a:latin typeface="open sans" panose="020B0606030504020204" pitchFamily="34" charset="0"/>
              </a:rPr>
              <a:t>&lt;/</a:t>
            </a:r>
            <a:r>
              <a:rPr lang="en-US" sz="1100" dirty="0" err="1">
                <a:solidFill>
                  <a:srgbClr val="000000"/>
                </a:solidFill>
                <a:latin typeface="open sans" panose="020B0606030504020204" pitchFamily="34" charset="0"/>
              </a:rPr>
              <a:t>groupId</a:t>
            </a:r>
            <a:r>
              <a:rPr lang="en-US" sz="1100" dirty="0">
                <a:solidFill>
                  <a:srgbClr val="000000"/>
                </a:solidFill>
                <a:latin typeface="open sans" panose="020B0606030504020204" pitchFamily="34" charset="0"/>
              </a:rPr>
              <a:t>&gt;</a:t>
            </a:r>
          </a:p>
          <a:p>
            <a:pPr marL="400050" lvl="2" indent="0">
              <a:spcBef>
                <a:spcPts val="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open sans" panose="020B0606030504020204" pitchFamily="34" charset="0"/>
              </a:rPr>
              <a:t>	&lt;</a:t>
            </a:r>
            <a:r>
              <a:rPr lang="en-US" sz="1100" dirty="0" err="1">
                <a:solidFill>
                  <a:srgbClr val="000000"/>
                </a:solidFill>
                <a:latin typeface="open sans" panose="020B0606030504020204" pitchFamily="34" charset="0"/>
              </a:rPr>
              <a:t>artifactId</a:t>
            </a:r>
            <a:r>
              <a:rPr lang="en-US" sz="1100" dirty="0">
                <a:solidFill>
                  <a:srgbClr val="000000"/>
                </a:solidFill>
                <a:latin typeface="open sans" panose="020B0606030504020204" pitchFamily="34" charset="0"/>
              </a:rPr>
              <a:t>&gt;</a:t>
            </a:r>
            <a:r>
              <a:rPr lang="en-IN" sz="1100" dirty="0">
                <a:solidFill>
                  <a:srgbClr val="000000"/>
                </a:solidFill>
                <a:latin typeface="open sans" panose="020B0606030504020204" pitchFamily="34" charset="0"/>
              </a:rPr>
              <a:t>spring-cloud-starter-</a:t>
            </a:r>
            <a:r>
              <a:rPr lang="en-IN" sz="1100" dirty="0" err="1">
                <a:solidFill>
                  <a:srgbClr val="000000"/>
                </a:solidFill>
                <a:latin typeface="open sans" panose="020B0606030504020204" pitchFamily="34" charset="0"/>
              </a:rPr>
              <a:t>netflix</a:t>
            </a:r>
            <a:r>
              <a:rPr lang="en-IN" sz="1100" dirty="0">
                <a:solidFill>
                  <a:srgbClr val="000000"/>
                </a:solidFill>
                <a:latin typeface="open sans" panose="020B0606030504020204" pitchFamily="34" charset="0"/>
              </a:rPr>
              <a:t>-hystrix</a:t>
            </a:r>
            <a:r>
              <a:rPr lang="en-US" sz="1100" dirty="0">
                <a:solidFill>
                  <a:srgbClr val="000000"/>
                </a:solidFill>
                <a:latin typeface="open sans" panose="020B0606030504020204" pitchFamily="34" charset="0"/>
              </a:rPr>
              <a:t>&lt;/</a:t>
            </a:r>
            <a:r>
              <a:rPr lang="en-US" sz="1100" dirty="0" err="1">
                <a:solidFill>
                  <a:srgbClr val="000000"/>
                </a:solidFill>
                <a:latin typeface="open sans" panose="020B0606030504020204" pitchFamily="34" charset="0"/>
              </a:rPr>
              <a:t>artifactId</a:t>
            </a:r>
            <a:r>
              <a:rPr lang="en-US" sz="1100" dirty="0">
                <a:solidFill>
                  <a:srgbClr val="000000"/>
                </a:solidFill>
                <a:latin typeface="open sans" panose="020B0606030504020204" pitchFamily="34" charset="0"/>
              </a:rPr>
              <a:t>&gt;</a:t>
            </a:r>
          </a:p>
          <a:p>
            <a:pPr marL="400050" lvl="2" indent="0">
              <a:spcBef>
                <a:spcPts val="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open sans" panose="020B0606030504020204" pitchFamily="34" charset="0"/>
              </a:rPr>
              <a:t>&lt;/dependency&gt;</a:t>
            </a:r>
          </a:p>
          <a:p>
            <a:pPr marL="400050" lvl="1" indent="0">
              <a:spcBef>
                <a:spcPts val="0"/>
              </a:spcBef>
              <a:buNone/>
            </a:pPr>
            <a:endParaRPr lang="en-US" sz="1100" dirty="0">
              <a:solidFill>
                <a:srgbClr val="000000"/>
              </a:solidFill>
              <a:latin typeface="open sans" panose="020B0606030504020204" pitchFamily="34" charset="0"/>
            </a:endParaRP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3BEFD8-3F72-4D54-9682-CEFC705F5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0407" y="2911149"/>
            <a:ext cx="7131594" cy="3144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55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B5406-BCBA-48AC-850D-73808DE1A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Zuul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67205-315A-401F-AE89-727140163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4987688"/>
          </a:xfrm>
        </p:spPr>
        <p:txBody>
          <a:bodyPr>
            <a:normAutofit/>
          </a:bodyPr>
          <a:lstStyle/>
          <a:p>
            <a:r>
              <a:rPr lang="en-US" dirty="0"/>
              <a:t>The front door for all requests from devices and web sites to the backend of the application</a:t>
            </a:r>
            <a:endParaRPr lang="en-IN" dirty="0"/>
          </a:p>
          <a:p>
            <a:r>
              <a:rPr lang="en-IN" dirty="0"/>
              <a:t>Provides dynamic routing, monitoring, resiliency and security</a:t>
            </a:r>
            <a:endParaRPr lang="en-US" dirty="0"/>
          </a:p>
          <a:p>
            <a:r>
              <a:rPr lang="en-US" dirty="0"/>
              <a:t>Supports eureka, ribbon and hystrix</a:t>
            </a: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latin typeface="open sans" panose="020B0606030504020204" pitchFamily="34" charset="0"/>
            </a:endParaRP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latin typeface="open sans" panose="020B060603050402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open sans" panose="020B0606030504020204" pitchFamily="34" charset="0"/>
              </a:rPr>
              <a:t>Annotation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open sans" panose="020B0606030504020204" pitchFamily="34" charset="0"/>
              </a:rPr>
              <a:t>           	@</a:t>
            </a:r>
            <a:r>
              <a:rPr lang="en-IN" sz="1100" dirty="0">
                <a:solidFill>
                  <a:srgbClr val="000000"/>
                </a:solidFill>
                <a:latin typeface="open sans" panose="020B0606030504020204" pitchFamily="34" charset="0"/>
              </a:rPr>
              <a:t>EnableZuulProxy</a:t>
            </a:r>
            <a:endParaRPr lang="en-US" sz="1100" dirty="0">
              <a:solidFill>
                <a:srgbClr val="000000"/>
              </a:solidFill>
              <a:latin typeface="open sans" panose="020B0606030504020204" pitchFamily="34" charset="0"/>
            </a:endParaRPr>
          </a:p>
          <a:p>
            <a:pPr marL="400050" lvl="1" indent="0">
              <a:spcBef>
                <a:spcPts val="0"/>
              </a:spcBef>
              <a:buNone/>
            </a:pPr>
            <a:endParaRPr lang="en-US" sz="1100" dirty="0">
              <a:solidFill>
                <a:srgbClr val="000000"/>
              </a:solidFill>
              <a:latin typeface="open sans" panose="020B060603050402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open sans" panose="020B0606030504020204" pitchFamily="34" charset="0"/>
              </a:rPr>
              <a:t>Maven dependency</a:t>
            </a:r>
          </a:p>
          <a:p>
            <a:pPr marL="400050" lvl="2" indent="0">
              <a:spcBef>
                <a:spcPts val="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open sans" panose="020B0606030504020204" pitchFamily="34" charset="0"/>
              </a:rPr>
              <a:t>&lt;dependency&gt;</a:t>
            </a:r>
          </a:p>
          <a:p>
            <a:pPr marL="400050" lvl="2" indent="0">
              <a:spcBef>
                <a:spcPts val="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open sans" panose="020B0606030504020204" pitchFamily="34" charset="0"/>
              </a:rPr>
              <a:t>	&lt;</a:t>
            </a:r>
            <a:r>
              <a:rPr lang="en-US" sz="1100" dirty="0" err="1">
                <a:solidFill>
                  <a:srgbClr val="000000"/>
                </a:solidFill>
                <a:latin typeface="open sans" panose="020B0606030504020204" pitchFamily="34" charset="0"/>
              </a:rPr>
              <a:t>groupId</a:t>
            </a:r>
            <a:r>
              <a:rPr lang="en-US" sz="1100" dirty="0">
                <a:solidFill>
                  <a:srgbClr val="000000"/>
                </a:solidFill>
                <a:latin typeface="open sans" panose="020B0606030504020204" pitchFamily="34" charset="0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open sans" panose="020B0606030504020204" pitchFamily="34" charset="0"/>
              </a:rPr>
              <a:t>org.springframework.cloud</a:t>
            </a:r>
            <a:r>
              <a:rPr lang="en-US" sz="1100" dirty="0">
                <a:solidFill>
                  <a:srgbClr val="000000"/>
                </a:solidFill>
                <a:latin typeface="open sans" panose="020B0606030504020204" pitchFamily="34" charset="0"/>
              </a:rPr>
              <a:t>&lt;/</a:t>
            </a:r>
            <a:r>
              <a:rPr lang="en-US" sz="1100" dirty="0" err="1">
                <a:solidFill>
                  <a:srgbClr val="000000"/>
                </a:solidFill>
                <a:latin typeface="open sans" panose="020B0606030504020204" pitchFamily="34" charset="0"/>
              </a:rPr>
              <a:t>groupId</a:t>
            </a:r>
            <a:r>
              <a:rPr lang="en-US" sz="1100" dirty="0">
                <a:solidFill>
                  <a:srgbClr val="000000"/>
                </a:solidFill>
                <a:latin typeface="open sans" panose="020B0606030504020204" pitchFamily="34" charset="0"/>
              </a:rPr>
              <a:t>&gt;</a:t>
            </a:r>
          </a:p>
          <a:p>
            <a:pPr marL="400050" lvl="2" indent="0">
              <a:spcBef>
                <a:spcPts val="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open sans" panose="020B0606030504020204" pitchFamily="34" charset="0"/>
              </a:rPr>
              <a:t>	&lt;</a:t>
            </a:r>
            <a:r>
              <a:rPr lang="en-US" sz="1100" dirty="0" err="1">
                <a:solidFill>
                  <a:srgbClr val="000000"/>
                </a:solidFill>
                <a:latin typeface="open sans" panose="020B0606030504020204" pitchFamily="34" charset="0"/>
              </a:rPr>
              <a:t>artifactId</a:t>
            </a:r>
            <a:r>
              <a:rPr lang="en-US" sz="1100" dirty="0">
                <a:solidFill>
                  <a:srgbClr val="000000"/>
                </a:solidFill>
                <a:latin typeface="open sans" panose="020B0606030504020204" pitchFamily="34" charset="0"/>
              </a:rPr>
              <a:t>&gt;</a:t>
            </a:r>
            <a:r>
              <a:rPr lang="en-IN" sz="1100" dirty="0">
                <a:solidFill>
                  <a:srgbClr val="000000"/>
                </a:solidFill>
                <a:latin typeface="open sans" panose="020B0606030504020204" pitchFamily="34" charset="0"/>
              </a:rPr>
              <a:t>spring-cloud-starter-</a:t>
            </a:r>
            <a:r>
              <a:rPr lang="en-IN" sz="1100" dirty="0" err="1">
                <a:solidFill>
                  <a:srgbClr val="000000"/>
                </a:solidFill>
                <a:latin typeface="open sans" panose="020B0606030504020204" pitchFamily="34" charset="0"/>
              </a:rPr>
              <a:t>netflix</a:t>
            </a:r>
            <a:r>
              <a:rPr lang="en-IN" sz="1100" dirty="0">
                <a:solidFill>
                  <a:srgbClr val="000000"/>
                </a:solidFill>
                <a:latin typeface="open sans" panose="020B0606030504020204" pitchFamily="34" charset="0"/>
              </a:rPr>
              <a:t>-</a:t>
            </a:r>
            <a:r>
              <a:rPr lang="en-IN" sz="1100" dirty="0" err="1">
                <a:solidFill>
                  <a:srgbClr val="000000"/>
                </a:solidFill>
                <a:latin typeface="open sans" panose="020B0606030504020204" pitchFamily="34" charset="0"/>
              </a:rPr>
              <a:t>zuul</a:t>
            </a:r>
            <a:r>
              <a:rPr lang="en-US" sz="1100" dirty="0">
                <a:solidFill>
                  <a:srgbClr val="000000"/>
                </a:solidFill>
                <a:latin typeface="open sans" panose="020B0606030504020204" pitchFamily="34" charset="0"/>
              </a:rPr>
              <a:t>&lt;/</a:t>
            </a:r>
            <a:r>
              <a:rPr lang="en-US" sz="1100" dirty="0" err="1">
                <a:solidFill>
                  <a:srgbClr val="000000"/>
                </a:solidFill>
                <a:latin typeface="open sans" panose="020B0606030504020204" pitchFamily="34" charset="0"/>
              </a:rPr>
              <a:t>artifactId</a:t>
            </a:r>
            <a:r>
              <a:rPr lang="en-US" sz="1100" dirty="0">
                <a:solidFill>
                  <a:srgbClr val="000000"/>
                </a:solidFill>
                <a:latin typeface="open sans" panose="020B0606030504020204" pitchFamily="34" charset="0"/>
              </a:rPr>
              <a:t>&gt;</a:t>
            </a:r>
          </a:p>
          <a:p>
            <a:pPr marL="400050" lvl="2" indent="0">
              <a:spcBef>
                <a:spcPts val="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open sans" panose="020B0606030504020204" pitchFamily="34" charset="0"/>
              </a:rPr>
              <a:t>&lt;/dependency&gt;</a:t>
            </a:r>
          </a:p>
          <a:p>
            <a:pPr marL="400050" lvl="2" indent="0">
              <a:spcBef>
                <a:spcPts val="0"/>
              </a:spcBef>
              <a:buNone/>
            </a:pPr>
            <a:endParaRPr lang="en-US" sz="1100" dirty="0">
              <a:solidFill>
                <a:srgbClr val="000000"/>
              </a:solidFill>
              <a:latin typeface="open sans" panose="020B0606030504020204" pitchFamily="34" charset="0"/>
            </a:endParaRPr>
          </a:p>
          <a:p>
            <a:pPr marL="400050" lvl="1" indent="0">
              <a:spcBef>
                <a:spcPts val="0"/>
              </a:spcBef>
              <a:buNone/>
            </a:pPr>
            <a:endParaRPr lang="en-US" sz="1100" dirty="0">
              <a:solidFill>
                <a:srgbClr val="000000"/>
              </a:solidFill>
              <a:latin typeface="open sans" panose="020B0606030504020204" pitchFamily="34" charset="0"/>
            </a:endParaRP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C4FE8C-35D0-41C4-A0C3-B910939EF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6668" y="2538540"/>
            <a:ext cx="7335332" cy="3853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537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7F66C-4214-47B1-9344-39911179C9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>
            <a:normAutofit/>
          </a:bodyPr>
          <a:lstStyle/>
          <a:p>
            <a:r>
              <a:rPr lang="en-US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265074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1720</TotalTime>
  <Words>374</Words>
  <Application>Microsoft Office PowerPoint</Application>
  <PresentationFormat>Widescreen</PresentationFormat>
  <Paragraphs>90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Open Sans</vt:lpstr>
      <vt:lpstr>Open Sans</vt:lpstr>
      <vt:lpstr>Trebuchet MS</vt:lpstr>
      <vt:lpstr>Wingdings 3</vt:lpstr>
      <vt:lpstr>Facet</vt:lpstr>
      <vt:lpstr>Spring Cloud </vt:lpstr>
      <vt:lpstr>  Agenda</vt:lpstr>
      <vt:lpstr> Spring cloud</vt:lpstr>
      <vt:lpstr>Feign</vt:lpstr>
      <vt:lpstr>Ribbon</vt:lpstr>
      <vt:lpstr>Eureka</vt:lpstr>
      <vt:lpstr>Hystrix</vt:lpstr>
      <vt:lpstr>Zuul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Cloud in SC20</dc:title>
  <dc:creator>Manu Mathew</dc:creator>
  <cp:lastModifiedBy>Manu Mathew</cp:lastModifiedBy>
  <cp:revision>56</cp:revision>
  <dcterms:created xsi:type="dcterms:W3CDTF">2020-09-02T15:35:01Z</dcterms:created>
  <dcterms:modified xsi:type="dcterms:W3CDTF">2020-09-09T05:56:19Z</dcterms:modified>
</cp:coreProperties>
</file>