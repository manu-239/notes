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  <p:sldId id="257" r:id="rId3"/>
    <p:sldId id="261" r:id="rId4"/>
    <p:sldId id="259" r:id="rId5"/>
    <p:sldId id="262" r:id="rId6"/>
    <p:sldId id="263" r:id="rId7"/>
    <p:sldId id="265" r:id="rId8"/>
    <p:sldId id="264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 Mathew" initials="MM" lastIdx="1" clrIdx="0">
    <p:extLst>
      <p:ext uri="{19B8F6BF-5375-455C-9EA6-DF929625EA0E}">
        <p15:presenceInfo xmlns:p15="http://schemas.microsoft.com/office/powerpoint/2012/main" userId="S::MMathew@manh.com::3c59ec7f-a935-4a15-8dd0-15bbf2e7c3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77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88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12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06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6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33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1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15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4221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0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9365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25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20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60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6/5/21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3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1CCD-29A0-4E40-BE79-C4249483E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3889" y="1966641"/>
            <a:ext cx="10477850" cy="19174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Basics of Spring, Spring MVC 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and Spring Boot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D1FE4-A82F-A54B-B563-1BBB04B071CC}"/>
              </a:ext>
            </a:extLst>
          </p:cNvPr>
          <p:cNvSpPr txBox="1"/>
          <p:nvPr/>
        </p:nvSpPr>
        <p:spPr>
          <a:xfrm>
            <a:off x="7583556" y="5317435"/>
            <a:ext cx="1593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l Nile" pitchFamily="2" charset="-78"/>
                <a:cs typeface="Al Nile" pitchFamily="2" charset="-78"/>
              </a:rPr>
              <a:t>Manu Mathew</a:t>
            </a:r>
          </a:p>
        </p:txBody>
      </p:sp>
    </p:spTree>
    <p:extLst>
      <p:ext uri="{BB962C8B-B14F-4D97-AF65-F5344CB8AC3E}">
        <p14:creationId xmlns:p14="http://schemas.microsoft.com/office/powerpoint/2010/main" val="344117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72" y="442520"/>
            <a:ext cx="11325138" cy="882942"/>
          </a:xfrm>
        </p:spPr>
        <p:txBody>
          <a:bodyPr>
            <a:normAutofit/>
          </a:bodyPr>
          <a:lstStyle/>
          <a:p>
            <a:r>
              <a:rPr lang="en-US" sz="4000"/>
              <a:t> Agenda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40" y="1568741"/>
            <a:ext cx="10704856" cy="4846740"/>
          </a:xfrm>
        </p:spPr>
        <p:txBody>
          <a:bodyPr>
            <a:normAutofit/>
          </a:bodyPr>
          <a:lstStyle/>
          <a:p>
            <a:r>
              <a:rPr lang="en-US" sz="2400">
                <a:cs typeface="Cavolini" panose="020B0502040204020203" pitchFamily="66" charset="0"/>
              </a:rPr>
              <a:t>Web application without spring</a:t>
            </a:r>
          </a:p>
          <a:p>
            <a:r>
              <a:rPr lang="en-US" sz="2400">
                <a:cs typeface="Cavolini" panose="020B0502040204020203" pitchFamily="66" charset="0"/>
              </a:rPr>
              <a:t>Spring basics</a:t>
            </a:r>
          </a:p>
          <a:p>
            <a:r>
              <a:rPr lang="en-US" sz="2400">
                <a:cs typeface="Cavolini" panose="020B0502040204020203" pitchFamily="66" charset="0"/>
              </a:rPr>
              <a:t>Spring MVC</a:t>
            </a:r>
          </a:p>
          <a:p>
            <a:r>
              <a:rPr lang="en-US" sz="2400">
                <a:cs typeface="Cavolini" panose="020B0502040204020203" pitchFamily="66" charset="0"/>
              </a:rPr>
              <a:t>Spring Boot</a:t>
            </a:r>
            <a:endParaRPr lang="en-US" sz="2400" dirty="0">
              <a:cs typeface="Cavolini" panose="020B0502040204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463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72" y="442520"/>
            <a:ext cx="11325138" cy="882942"/>
          </a:xfrm>
        </p:spPr>
        <p:txBody>
          <a:bodyPr>
            <a:normAutofit fontScale="90000"/>
          </a:bodyPr>
          <a:lstStyle/>
          <a:p>
            <a:r>
              <a:rPr lang="en-US" sz="4000"/>
              <a:t> </a:t>
            </a:r>
            <a:r>
              <a:rPr lang="en-US" sz="4400"/>
              <a:t>Without Spring</a:t>
            </a:r>
            <a:br>
              <a:rPr lang="en-US" sz="5400">
                <a:cs typeface="Cavolini" panose="020B0502040204020203" pitchFamily="66" charset="0"/>
              </a:rPr>
            </a:br>
            <a:br>
              <a:rPr lang="en-US" sz="4000">
                <a:cs typeface="Cavolini" panose="020B0502040204020203" pitchFamily="66" charset="0"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40" y="1568741"/>
            <a:ext cx="10704856" cy="4846740"/>
          </a:xfrm>
        </p:spPr>
        <p:txBody>
          <a:bodyPr>
            <a:normAutofit/>
          </a:bodyPr>
          <a:lstStyle/>
          <a:p>
            <a:r>
              <a:rPr lang="en-US" sz="2400">
                <a:cs typeface="Cavolini" panose="020B0502040204020203" pitchFamily="66" charset="0"/>
              </a:rPr>
              <a:t>Difficult to manage dependencies</a:t>
            </a:r>
          </a:p>
          <a:p>
            <a:r>
              <a:rPr lang="en-US" sz="2400">
                <a:cs typeface="Cavolini" panose="020B0502040204020203" pitchFamily="66" charset="0"/>
              </a:rPr>
              <a:t>Tightly coupled</a:t>
            </a:r>
          </a:p>
          <a:p>
            <a:r>
              <a:rPr lang="en-US" sz="2400">
                <a:cs typeface="Cavolini" panose="020B0502040204020203" pitchFamily="66" charset="0"/>
              </a:rPr>
              <a:t>Lot of boilerplate code</a:t>
            </a:r>
            <a:endParaRPr lang="en-US" sz="2400" dirty="0">
              <a:cs typeface="Cavolini" panose="020B0502040204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751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72" y="442520"/>
            <a:ext cx="11325138" cy="88294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</a:t>
            </a:r>
            <a:r>
              <a:rPr lang="en-US" sz="4400" dirty="0"/>
              <a:t>What is Spring</a:t>
            </a:r>
            <a:br>
              <a:rPr lang="en-US" sz="5400" dirty="0">
                <a:cs typeface="Cavolini" panose="020B0502040204020203" pitchFamily="66" charset="0"/>
              </a:rPr>
            </a:br>
            <a:br>
              <a:rPr lang="en-US" sz="4000" dirty="0">
                <a:cs typeface="Cavolini" panose="020B0502040204020203" pitchFamily="66" charset="0"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40" y="1568741"/>
            <a:ext cx="10704856" cy="4846740"/>
          </a:xfrm>
        </p:spPr>
        <p:txBody>
          <a:bodyPr>
            <a:normAutofit/>
          </a:bodyPr>
          <a:lstStyle/>
          <a:p>
            <a:r>
              <a:rPr lang="en-IN" sz="2400" dirty="0">
                <a:cs typeface="Cavolini" panose="020B0502040204020203" pitchFamily="66" charset="0"/>
              </a:rPr>
              <a:t>A Java framework that provides comprehensive </a:t>
            </a:r>
          </a:p>
          <a:p>
            <a:pPr marL="0" indent="0">
              <a:buNone/>
            </a:pPr>
            <a:r>
              <a:rPr lang="en-IN" sz="2400" dirty="0">
                <a:cs typeface="Cavolini" panose="020B0502040204020203" pitchFamily="66" charset="0"/>
              </a:rPr>
              <a:t>   infrastructure support for developing Java applications</a:t>
            </a:r>
            <a:endParaRPr lang="en-US" sz="2400" dirty="0">
              <a:cs typeface="Cavolini" panose="020B0502040204020203" pitchFamily="66" charset="0"/>
            </a:endParaRPr>
          </a:p>
          <a:p>
            <a:r>
              <a:rPr lang="en-US" sz="2400" dirty="0">
                <a:cs typeface="Cavolini" panose="020B0502040204020203" pitchFamily="66" charset="0"/>
              </a:rPr>
              <a:t>Manages dependencies and avoid tight coupling</a:t>
            </a:r>
          </a:p>
          <a:p>
            <a:r>
              <a:rPr lang="en-US" sz="2400" dirty="0">
                <a:cs typeface="Cavolini" panose="020B0502040204020203" pitchFamily="66" charset="0"/>
              </a:rPr>
              <a:t>Reduces boilerplate code</a:t>
            </a:r>
          </a:p>
          <a:p>
            <a:r>
              <a:rPr lang="en-US" sz="2400" dirty="0">
                <a:cs typeface="Cavolini" panose="020B0502040204020203" pitchFamily="66" charset="0"/>
              </a:rPr>
              <a:t>Flexible configuration</a:t>
            </a:r>
          </a:p>
          <a:p>
            <a:r>
              <a:rPr lang="en-US" sz="2400" dirty="0">
                <a:cs typeface="Cavolini" panose="020B0502040204020203" pitchFamily="66" charset="0"/>
              </a:rPr>
              <a:t>Other framework support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4982C-37EA-4508-BE62-FFFA08CEE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594" y="3080540"/>
            <a:ext cx="4221400" cy="27934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F16240-4467-4288-A794-D6A77491C099}"/>
              </a:ext>
            </a:extLst>
          </p:cNvPr>
          <p:cNvSpPr/>
          <p:nvPr/>
        </p:nvSpPr>
        <p:spPr>
          <a:xfrm>
            <a:off x="4905822" y="6046148"/>
            <a:ext cx="2749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333333"/>
                </a:solidFill>
                <a:latin typeface="Helvetica" panose="020B0604020202020204" pitchFamily="34" charset="0"/>
              </a:rPr>
              <a:t>The Spring IoC container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97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72" y="609600"/>
            <a:ext cx="8871330" cy="1320800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 </a:t>
            </a:r>
            <a:r>
              <a:rPr lang="en-US" sz="4400" dirty="0"/>
              <a:t>Spring container</a:t>
            </a:r>
            <a:br>
              <a:rPr lang="en-US" sz="2800" dirty="0">
                <a:cs typeface="Cavolini" panose="020B0502040204020203" pitchFamily="66" charset="0"/>
              </a:rPr>
            </a:br>
            <a:br>
              <a:rPr lang="en-US" sz="2800" dirty="0">
                <a:cs typeface="Cavolini" panose="020B0502040204020203" pitchFamily="66" charset="0"/>
              </a:rPr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117" y="1568741"/>
            <a:ext cx="9378891" cy="41525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000" dirty="0">
                <a:cs typeface="Cavolini" panose="020B0502040204020203" pitchFamily="66" charset="0"/>
              </a:rPr>
              <a:t>Spring beans - </a:t>
            </a:r>
            <a:r>
              <a:rPr lang="en-US" sz="2000" dirty="0">
                <a:cs typeface="Cavolini" panose="020B0502040204020203" pitchFamily="66" charset="0"/>
              </a:rPr>
              <a:t>objects that are managed by spring framework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cs typeface="Cavolini" panose="020B0502040204020203" pitchFamily="66" charset="0"/>
              </a:rPr>
              <a:t>IoC - control of creating and managing dependencies are handed over to spring from the class which need the dependency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cs typeface="Cavolini" panose="020B0502040204020203" pitchFamily="66" charset="0"/>
              </a:rPr>
              <a:t>DI – populate the dependency to the needed class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cs typeface="Cavolini" panose="020B0502040204020203" pitchFamily="66" charset="0"/>
              </a:rPr>
              <a:t>	</a:t>
            </a:r>
            <a:r>
              <a:rPr lang="en-US" sz="1600" dirty="0">
                <a:cs typeface="Cavolini" panose="020B0502040204020203" pitchFamily="66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cs typeface="Cavolini" panose="020B0502040204020203" pitchFamily="66" charset="0"/>
              </a:rPr>
              <a:t> </a:t>
            </a:r>
            <a:r>
              <a:rPr lang="en-IN" sz="1600" dirty="0"/>
              <a:t>Constructor Injection, Setter Injection and Field Injection(only possible in annotation)</a:t>
            </a:r>
            <a:endParaRPr lang="en-US" sz="1600" dirty="0">
              <a:cs typeface="Cavolini" panose="020B0502040204020203" pitchFamily="66" charset="0"/>
            </a:endParaRPr>
          </a:p>
          <a:p>
            <a:pPr>
              <a:lnSpc>
                <a:spcPct val="90000"/>
              </a:lnSpc>
            </a:pPr>
            <a:r>
              <a:rPr lang="en-IN" sz="2000" dirty="0">
                <a:cs typeface="Cavolini" panose="020B0502040204020203" pitchFamily="66" charset="0"/>
              </a:rPr>
              <a:t>Configuration metadata – </a:t>
            </a:r>
            <a:r>
              <a:rPr lang="en-US" sz="2000" dirty="0">
                <a:cs typeface="Cavolini" panose="020B0502040204020203" pitchFamily="66" charset="0"/>
              </a:rPr>
              <a:t>XML based and annotation-based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cs typeface="Cavolini" panose="020B0502040204020203" pitchFamily="66" charset="0"/>
              </a:rPr>
              <a:t>ApplicationContext - </a:t>
            </a:r>
            <a:r>
              <a:rPr lang="en-US" sz="2000" dirty="0"/>
              <a:t>represents the Spring IoC container and is responsible for instantiating, configuring, and assembling the beans</a:t>
            </a:r>
            <a:endParaRPr lang="en-US" sz="2000" dirty="0">
              <a:cs typeface="Cavolini" panose="020B0502040204020203" pitchFamily="66" charset="0"/>
            </a:endParaRPr>
          </a:p>
          <a:p>
            <a:pPr>
              <a:lnSpc>
                <a:spcPct val="90000"/>
              </a:lnSpc>
            </a:pPr>
            <a:endParaRPr lang="en-IN" dirty="0">
              <a:cs typeface="Cavolini" panose="020B0502040204020203" pitchFamily="66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dirty="0">
                <a:cs typeface="Cavolini" panose="020B0502040204020203" pitchFamily="66" charset="0"/>
              </a:rPr>
              <a:t>   </a:t>
            </a:r>
            <a:endParaRPr lang="en-US" dirty="0">
              <a:cs typeface="Cavolini" panose="020B0502040204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442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 </a:t>
            </a:r>
            <a:r>
              <a:rPr lang="en-US" sz="4400" dirty="0"/>
              <a:t>Spring container initialization</a:t>
            </a:r>
            <a:br>
              <a:rPr lang="en-US" sz="2800" dirty="0">
                <a:cs typeface="Cavolini" panose="020B0502040204020203" pitchFamily="66" charset="0"/>
              </a:rPr>
            </a:br>
            <a:br>
              <a:rPr lang="en-US" sz="2800" dirty="0">
                <a:cs typeface="Cavolini" panose="020B0502040204020203" pitchFamily="66" charset="0"/>
              </a:rPr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52" y="1364153"/>
            <a:ext cx="9213909" cy="448092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i="1" dirty="0">
                <a:solidFill>
                  <a:srgbClr val="0070C0"/>
                </a:solidFill>
              </a:rPr>
              <a:t>ApplicationContext appCtx = new ClassPathXmlApplicationContext(“app.xml")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i="1" dirty="0">
                <a:solidFill>
                  <a:srgbClr val="0070C0"/>
                </a:solidFill>
              </a:rPr>
              <a:t>AbstractApplicationContext.refresh()</a:t>
            </a:r>
            <a:r>
              <a:rPr lang="en-US" i="1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400" dirty="0">
                <a:sym typeface="Wingdings" panose="05000000000000000000" pitchFamily="2" charset="2"/>
              </a:rPr>
              <a:t>instantiate all the required beans for spring, eg: BeanPostProcessors implementation and load configuration metadata</a:t>
            </a: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i="1" dirty="0">
                <a:solidFill>
                  <a:srgbClr val="0070C0"/>
                </a:solidFill>
              </a:rPr>
              <a:t>DefaultListableBeanFactory.preInstantiateSingletons </a:t>
            </a:r>
            <a:r>
              <a:rPr lang="en-US" sz="1400" dirty="0">
                <a:sym typeface="Wingdings" panose="05000000000000000000" pitchFamily="2" charset="2"/>
              </a:rPr>
              <a:t> iterate each bean from configuration metadata and t</a:t>
            </a:r>
            <a:r>
              <a:rPr lang="en-US" sz="1400" dirty="0"/>
              <a:t>rigger initialization of all non-lazy singleton beans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i="1" dirty="0">
                <a:solidFill>
                  <a:srgbClr val="0070C0"/>
                </a:solidFill>
              </a:rPr>
              <a:t>AbstractBeanFactory.getBean </a:t>
            </a: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1400" dirty="0"/>
              <a:t> Runtime request for a bean also will come here, and call doGetBean</a:t>
            </a:r>
            <a:endParaRPr lang="en-US" sz="1400" dirty="0">
              <a:solidFill>
                <a:srgbClr val="0070C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i="1" dirty="0">
                <a:solidFill>
                  <a:srgbClr val="0070C0"/>
                </a:solidFill>
              </a:rPr>
              <a:t>AbstractBeanFactory.doGetBean </a:t>
            </a:r>
            <a:r>
              <a:rPr lang="en-US" sz="1400" dirty="0">
                <a:sym typeface="Wingdings" panose="05000000000000000000" pitchFamily="2" charset="2"/>
              </a:rPr>
              <a:t> check for scope, if singleton, </a:t>
            </a:r>
            <a:r>
              <a:rPr lang="en-US" sz="1400" dirty="0"/>
              <a:t>look bean in a concurrentHashMap. If found, return else continue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i="1" dirty="0">
                <a:solidFill>
                  <a:srgbClr val="0070C0"/>
                </a:solidFill>
              </a:rPr>
              <a:t>AbstractAutowireCapableBeanFactory.createBeanInstance </a:t>
            </a:r>
            <a:r>
              <a:rPr lang="en-US" sz="1400" dirty="0">
                <a:sym typeface="Wingdings" panose="05000000000000000000" pitchFamily="2" charset="2"/>
              </a:rPr>
              <a:t> if the bean has constructor argument of another bean, invoke 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getBean</a:t>
            </a:r>
            <a:r>
              <a:rPr lang="en-US" sz="1400" dirty="0">
                <a:sym typeface="Wingdings" panose="05000000000000000000" pitchFamily="2" charset="2"/>
              </a:rPr>
              <a:t> method for the argument bean, and this loop will continue until the constructor bean gets resolved; else create the bean instance (bean creation + DI via constructor). </a:t>
            </a: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i="1" dirty="0">
                <a:solidFill>
                  <a:srgbClr val="0070C0"/>
                </a:solidFill>
              </a:rPr>
              <a:t>AbstractAutowireCapableBeanFactory.populateBean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1400" dirty="0">
                <a:sym typeface="Wingdings" panose="05000000000000000000" pitchFamily="2" charset="2"/>
              </a:rPr>
              <a:t>if the bean has property of another bean, invoke 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getBean</a:t>
            </a:r>
            <a:r>
              <a:rPr lang="en-US" sz="1400" dirty="0">
                <a:sym typeface="Wingdings" panose="05000000000000000000" pitchFamily="2" charset="2"/>
              </a:rPr>
              <a:t> method for the property bean, and this loop will continue until the property bean gets resolved; else populate other properties (bean creation + DI via setter methods or DI on fields). </a:t>
            </a:r>
            <a:endParaRPr lang="en-US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D9656F0-2BB8-492D-A7C3-632C51BCA034}"/>
              </a:ext>
            </a:extLst>
          </p:cNvPr>
          <p:cNvCxnSpPr>
            <a:cxnSpLocks/>
          </p:cNvCxnSpPr>
          <p:nvPr/>
        </p:nvCxnSpPr>
        <p:spPr>
          <a:xfrm>
            <a:off x="1031846" y="1669409"/>
            <a:ext cx="0" cy="184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C02715-ADA7-4D6A-AD55-0AB1E1C9F361}"/>
              </a:ext>
            </a:extLst>
          </p:cNvPr>
          <p:cNvCxnSpPr>
            <a:cxnSpLocks/>
          </p:cNvCxnSpPr>
          <p:nvPr/>
        </p:nvCxnSpPr>
        <p:spPr>
          <a:xfrm>
            <a:off x="1359017" y="2224480"/>
            <a:ext cx="0" cy="174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BEC71B-DAB7-4770-8C56-798A09211466}"/>
              </a:ext>
            </a:extLst>
          </p:cNvPr>
          <p:cNvCxnSpPr>
            <a:cxnSpLocks/>
          </p:cNvCxnSpPr>
          <p:nvPr/>
        </p:nvCxnSpPr>
        <p:spPr>
          <a:xfrm>
            <a:off x="1728132" y="2759978"/>
            <a:ext cx="0" cy="20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D709DC-CE9E-4384-89C6-D4B85C64B193}"/>
              </a:ext>
            </a:extLst>
          </p:cNvPr>
          <p:cNvCxnSpPr>
            <a:cxnSpLocks/>
          </p:cNvCxnSpPr>
          <p:nvPr/>
        </p:nvCxnSpPr>
        <p:spPr>
          <a:xfrm>
            <a:off x="2063692" y="3187816"/>
            <a:ext cx="0" cy="15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1EB504-A127-40F7-95F6-B27A8A7B9472}"/>
              </a:ext>
            </a:extLst>
          </p:cNvPr>
          <p:cNvCxnSpPr>
            <a:cxnSpLocks/>
          </p:cNvCxnSpPr>
          <p:nvPr/>
        </p:nvCxnSpPr>
        <p:spPr>
          <a:xfrm>
            <a:off x="2382473" y="3724712"/>
            <a:ext cx="0" cy="17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6A74AD-2522-4F0A-BCE2-A4E956F547C4}"/>
              </a:ext>
            </a:extLst>
          </p:cNvPr>
          <p:cNvCxnSpPr>
            <a:cxnSpLocks/>
          </p:cNvCxnSpPr>
          <p:nvPr/>
        </p:nvCxnSpPr>
        <p:spPr>
          <a:xfrm>
            <a:off x="2743200" y="4563611"/>
            <a:ext cx="0" cy="162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6" name="Arrow: Curved Left 35">
            <a:extLst>
              <a:ext uri="{FF2B5EF4-FFF2-40B4-BE49-F238E27FC236}">
                <a16:creationId xmlns:a16="http://schemas.microsoft.com/office/drawing/2014/main" id="{8261284A-E366-457F-88D2-57B608A80CFB}"/>
              </a:ext>
            </a:extLst>
          </p:cNvPr>
          <p:cNvSpPr/>
          <p:nvPr/>
        </p:nvSpPr>
        <p:spPr>
          <a:xfrm rot="10800000">
            <a:off x="104725" y="2902591"/>
            <a:ext cx="536885" cy="114929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8" name="Arrow: Curved Left 37">
            <a:extLst>
              <a:ext uri="{FF2B5EF4-FFF2-40B4-BE49-F238E27FC236}">
                <a16:creationId xmlns:a16="http://schemas.microsoft.com/office/drawing/2014/main" id="{000CF515-0992-4065-B113-79D5BB83E72D}"/>
              </a:ext>
            </a:extLst>
          </p:cNvPr>
          <p:cNvSpPr/>
          <p:nvPr/>
        </p:nvSpPr>
        <p:spPr>
          <a:xfrm rot="10800000">
            <a:off x="104724" y="2961314"/>
            <a:ext cx="536885" cy="19043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41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442520"/>
            <a:ext cx="11375472" cy="88294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Autowiring</a:t>
            </a:r>
            <a:br>
              <a:rPr lang="en-US" sz="5400" dirty="0">
                <a:cs typeface="Cavolini" panose="020B0502040204020203" pitchFamily="66" charset="0"/>
              </a:rPr>
            </a:br>
            <a:br>
              <a:rPr lang="en-US" sz="4000" dirty="0">
                <a:cs typeface="Cavolini" panose="020B0502040204020203" pitchFamily="66" charset="0"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89" y="1199626"/>
            <a:ext cx="9191539" cy="521585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Spring container can autowire relationships between collaborating beans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Types</a:t>
            </a:r>
          </a:p>
          <a:p>
            <a:r>
              <a:rPr lang="en-US" dirty="0"/>
              <a:t>byName - </a:t>
            </a:r>
            <a:r>
              <a:rPr lang="en-IN" dirty="0"/>
              <a:t>Autowiring by property name, Spring looks for a bean with the same name as the property that needs to be autowired. Using setter methods</a:t>
            </a:r>
          </a:p>
          <a:p>
            <a:r>
              <a:rPr lang="en-IN" dirty="0"/>
              <a:t>byType - Allows a property to be autowired if exactly one bean of the property type exists in the container. Using setter methods</a:t>
            </a:r>
          </a:p>
          <a:p>
            <a:r>
              <a:rPr lang="en-IN" dirty="0"/>
              <a:t>Constructor – Same as byType, but applies to constructor arguments. Using constructor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2000" b="1" dirty="0"/>
              <a:t>@Autowired</a:t>
            </a:r>
            <a:endParaRPr lang="en-IN" sz="20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Annotation can be used on constructor, setter methods and fields to autowire dependencies.</a:t>
            </a:r>
          </a:p>
          <a:p>
            <a:pPr marL="0" indent="0">
              <a:buNone/>
            </a:pPr>
            <a:r>
              <a:rPr lang="en-IN" dirty="0"/>
              <a:t>Annotation injection is performed</a:t>
            </a:r>
            <a:r>
              <a:rPr lang="en-US" dirty="0"/>
              <a:t> </a:t>
            </a:r>
            <a:r>
              <a:rPr lang="en-US" i="1" dirty="0"/>
              <a:t>before</a:t>
            </a:r>
            <a:r>
              <a:rPr lang="en-US" dirty="0"/>
              <a:t> XML injection; latter configuration will override the properties wired through both approaches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473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72" y="442520"/>
            <a:ext cx="11325138" cy="88294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Annotations</a:t>
            </a:r>
            <a:br>
              <a:rPr lang="en-US" sz="5400" dirty="0">
                <a:cs typeface="Cavolini" panose="020B0502040204020203" pitchFamily="66" charset="0"/>
              </a:rPr>
            </a:br>
            <a:br>
              <a:rPr lang="en-US" sz="4000" dirty="0">
                <a:cs typeface="Cavolini" panose="020B0502040204020203" pitchFamily="66" charset="0"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39" y="1240970"/>
            <a:ext cx="9005211" cy="5174511"/>
          </a:xfrm>
        </p:spPr>
        <p:txBody>
          <a:bodyPr>
            <a:normAutofit/>
          </a:bodyPr>
          <a:lstStyle/>
          <a:p>
            <a:r>
              <a:rPr lang="en-US" dirty="0"/>
              <a:t>What are the beans Spring will look for?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@Component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@Controller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@Service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@Repository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@Bean</a:t>
            </a:r>
            <a:r>
              <a:rPr lang="en-US" dirty="0">
                <a:solidFill>
                  <a:schemeClr val="tx1"/>
                </a:solidFill>
              </a:rPr>
              <a:t> methods</a:t>
            </a:r>
          </a:p>
          <a:p>
            <a:r>
              <a:rPr lang="en-US" dirty="0"/>
              <a:t>What are the dependencies?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@Autowired</a:t>
            </a:r>
          </a:p>
          <a:p>
            <a:r>
              <a:rPr lang="en-US" dirty="0"/>
              <a:t>Where to search for Beans?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@ComponentScan</a:t>
            </a:r>
            <a:r>
              <a:rPr lang="en-US" dirty="0"/>
              <a:t> or </a:t>
            </a:r>
            <a:r>
              <a:rPr lang="en-US" dirty="0">
                <a:solidFill>
                  <a:srgbClr val="0070C0"/>
                </a:solidFill>
              </a:rPr>
              <a:t>@Configuration</a:t>
            </a:r>
          </a:p>
          <a:p>
            <a:r>
              <a:rPr lang="en-US" dirty="0">
                <a:solidFill>
                  <a:srgbClr val="0070C0"/>
                </a:solidFill>
              </a:rPr>
              <a:t>@Bean</a:t>
            </a:r>
            <a:r>
              <a:rPr lang="en-US" dirty="0"/>
              <a:t> annotation plays the same role as the </a:t>
            </a:r>
            <a:r>
              <a:rPr lang="en-US" dirty="0">
                <a:solidFill>
                  <a:srgbClr val="0070C0"/>
                </a:solidFill>
              </a:rPr>
              <a:t>&lt;bean/&gt; </a:t>
            </a:r>
            <a:r>
              <a:rPr lang="en-US" dirty="0"/>
              <a:t>element in xml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dirty="0"/>
          </a:p>
          <a:p>
            <a:endParaRPr lang="en-US" dirty="0"/>
          </a:p>
        </p:txBody>
      </p:sp>
      <p:pic>
        <p:nvPicPr>
          <p:cNvPr id="1027" name="Picture 3" descr="Machine generated alternative text:&#10;@Configuration &#10;public class AppConfig { &#10;@Bean &#10;public MyService myService() { &#10;return new MyServiceImp1(); &#10;The Appconfig class above would be equivalent to the following Spring XML: &#10;&lt;beans&gt; &#10;&lt;bean id &#10;&lt;/beans&gt; &#10;&quot;myService&quot; &#10;class=&quot;com.acme.services . MyServiceImp1 &quot; ">
            <a:extLst>
              <a:ext uri="{FF2B5EF4-FFF2-40B4-BE49-F238E27FC236}">
                <a16:creationId xmlns:a16="http://schemas.microsoft.com/office/drawing/2014/main" id="{B84E7F55-F63B-42E3-87C5-01D1243EA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08" y="3993502"/>
            <a:ext cx="6311284" cy="262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983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442520"/>
            <a:ext cx="11375472" cy="88294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Spring MVC</a:t>
            </a:r>
            <a:br>
              <a:rPr lang="en-US" sz="5400" dirty="0">
                <a:cs typeface="Cavolini" panose="020B0502040204020203" pitchFamily="66" charset="0"/>
              </a:rPr>
            </a:br>
            <a:br>
              <a:rPr lang="en-US" sz="4000" dirty="0">
                <a:cs typeface="Cavolini" panose="020B0502040204020203" pitchFamily="66" charset="0"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89" y="1199626"/>
            <a:ext cx="9191539" cy="5215855"/>
          </a:xfrm>
        </p:spPr>
        <p:txBody>
          <a:bodyPr>
            <a:normAutofit/>
          </a:bodyPr>
          <a:lstStyle/>
          <a:p>
            <a:r>
              <a:rPr lang="en-US" dirty="0"/>
              <a:t>The Spring MVC framework is designed around a </a:t>
            </a:r>
            <a:r>
              <a:rPr lang="en-US" dirty="0">
                <a:solidFill>
                  <a:srgbClr val="0070C0"/>
                </a:solidFill>
              </a:rPr>
              <a:t>DispatcherServlet</a:t>
            </a:r>
            <a:r>
              <a:rPr lang="en-US" dirty="0"/>
              <a:t> that dispatches requests to handlers, with configurable handler mappings, view resolution, locale and theme resolution as well as support for uploading files</a:t>
            </a:r>
          </a:p>
          <a:p>
            <a:r>
              <a:rPr lang="en-US" dirty="0"/>
              <a:t>Web application can have root application context and each dispatcher servlet can have its own child context</a:t>
            </a:r>
          </a:p>
          <a:p>
            <a:r>
              <a:rPr lang="en-US" dirty="0"/>
              <a:t>Root context can be initialized using spring </a:t>
            </a:r>
            <a:r>
              <a:rPr lang="en-US" i="1" dirty="0">
                <a:solidFill>
                  <a:srgbClr val="0070C0"/>
                </a:solidFill>
              </a:rPr>
              <a:t>ContextLoaderListener</a:t>
            </a:r>
            <a:r>
              <a:rPr lang="en-US" i="1" dirty="0"/>
              <a:t> </a:t>
            </a:r>
            <a:r>
              <a:rPr lang="en-US" dirty="0"/>
              <a:t>configuration in Web.xml</a:t>
            </a:r>
          </a:p>
          <a:p>
            <a:r>
              <a:rPr lang="en-IN" dirty="0"/>
              <a:t>Upon initialization of a</a:t>
            </a:r>
            <a:r>
              <a:rPr lang="en-US" dirty="0"/>
              <a:t> DispatcherServlet, Spring MVC looks for a file named </a:t>
            </a:r>
            <a:r>
              <a:rPr lang="en-US" i="1" dirty="0">
                <a:solidFill>
                  <a:srgbClr val="0070C0"/>
                </a:solidFill>
              </a:rPr>
              <a:t>[servlet-name]-servlet.xml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dirty="0"/>
              <a:t>in the WEB-INF directory of your web application and creates the beans defined there, overriding the definitions of any beans defined with the same name in the root context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278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96" y="609600"/>
            <a:ext cx="4873726" cy="1106311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 </a:t>
            </a:r>
            <a:r>
              <a:rPr lang="en-US" sz="4000" dirty="0"/>
              <a:t>Dispatcher Servlet</a:t>
            </a:r>
            <a:br>
              <a:rPr lang="en-US" sz="2800" dirty="0">
                <a:cs typeface="Cavolini" panose="020B0502040204020203" pitchFamily="66" charset="0"/>
              </a:rPr>
            </a:br>
            <a:br>
              <a:rPr lang="en-US" sz="2800" dirty="0">
                <a:cs typeface="Cavolini" panose="020B0502040204020203" pitchFamily="66" charset="0"/>
              </a:rPr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296" y="905164"/>
            <a:ext cx="5593126" cy="48747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US" dirty="0">
                <a:solidFill>
                  <a:srgbClr val="0070C0"/>
                </a:solidFill>
              </a:rPr>
              <a:t>HandlerMapping</a:t>
            </a:r>
            <a:r>
              <a:rPr lang="en-US" dirty="0"/>
              <a:t> – find the Controller for the URL</a:t>
            </a:r>
          </a:p>
          <a:p>
            <a:r>
              <a:rPr lang="en-US" dirty="0">
                <a:solidFill>
                  <a:srgbClr val="0070C0"/>
                </a:solidFill>
              </a:rPr>
              <a:t>HandlerAdapter</a:t>
            </a:r>
            <a:r>
              <a:rPr lang="en-US" dirty="0"/>
              <a:t> – invoke the Controller Method and return ModelAndView </a:t>
            </a:r>
          </a:p>
          <a:p>
            <a:r>
              <a:rPr lang="en-US" dirty="0">
                <a:solidFill>
                  <a:srgbClr val="0070C0"/>
                </a:solidFill>
              </a:rPr>
              <a:t>Controller</a:t>
            </a:r>
            <a:r>
              <a:rPr lang="en-US" dirty="0"/>
              <a:t> – processes the request, invoke business logics, get the Model and return ModelAndView</a:t>
            </a:r>
          </a:p>
          <a:p>
            <a:r>
              <a:rPr lang="en-US" dirty="0">
                <a:solidFill>
                  <a:srgbClr val="0070C0"/>
                </a:solidFill>
              </a:rPr>
              <a:t>ViewResolver</a:t>
            </a:r>
            <a:r>
              <a:rPr lang="en-US" dirty="0"/>
              <a:t> – create a View for the URL</a:t>
            </a:r>
          </a:p>
          <a:p>
            <a:r>
              <a:rPr lang="en-US" dirty="0">
                <a:solidFill>
                  <a:srgbClr val="0070C0"/>
                </a:solidFill>
              </a:rPr>
              <a:t>View</a:t>
            </a:r>
            <a:r>
              <a:rPr lang="en-US" dirty="0"/>
              <a:t> – populate Model map to request object attributes and using request dispatcher forward the request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7704D6-11EE-490E-AACC-16ADADD6F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422" y="1958467"/>
            <a:ext cx="6313578" cy="291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77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72" y="442520"/>
            <a:ext cx="11325138" cy="88294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Annotations</a:t>
            </a:r>
            <a:br>
              <a:rPr lang="en-US" sz="5400" dirty="0">
                <a:cs typeface="Cavolini" panose="020B0502040204020203" pitchFamily="66" charset="0"/>
              </a:rPr>
            </a:br>
            <a:br>
              <a:rPr lang="en-US" sz="4000" dirty="0">
                <a:cs typeface="Cavolini" panose="020B0502040204020203" pitchFamily="66" charset="0"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39" y="1240970"/>
            <a:ext cx="9005211" cy="5174511"/>
          </a:xfrm>
        </p:spPr>
        <p:txBody>
          <a:bodyPr>
            <a:normAutofit/>
          </a:bodyPr>
          <a:lstStyle/>
          <a:p>
            <a:r>
              <a:rPr lang="en-US" dirty="0"/>
              <a:t>What are the beans handler will look for?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@Controller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How handler map the URL?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@RequestMapping</a:t>
            </a:r>
          </a:p>
          <a:p>
            <a:r>
              <a:rPr lang="en-US" dirty="0"/>
              <a:t>How to map UI form values to our bean and get in the request mapping method?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IN" dirty="0">
                <a:solidFill>
                  <a:srgbClr val="0070C0"/>
                </a:solidFill>
              </a:rPr>
              <a:t>@ModelAttribute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/>
              <a:t>How to set some values in Model object and get in all the Controller and views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IN" dirty="0">
                <a:solidFill>
                  <a:srgbClr val="0070C0"/>
                </a:solidFill>
              </a:rPr>
              <a:t>@ControllerAdvice </a:t>
            </a:r>
            <a:r>
              <a:rPr lang="en-IN" dirty="0"/>
              <a:t>+ </a:t>
            </a:r>
            <a:r>
              <a:rPr lang="en-IN" dirty="0">
                <a:solidFill>
                  <a:srgbClr val="0070C0"/>
                </a:solidFill>
              </a:rPr>
              <a:t>@ModelAttribute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52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442520"/>
            <a:ext cx="11375472" cy="88294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Spring Boot</a:t>
            </a:r>
            <a:br>
              <a:rPr lang="en-US" sz="5400" dirty="0">
                <a:cs typeface="Cavolini" panose="020B0502040204020203" pitchFamily="66" charset="0"/>
              </a:rPr>
            </a:br>
            <a:br>
              <a:rPr lang="en-US" sz="4000" dirty="0">
                <a:cs typeface="Cavolini" panose="020B0502040204020203" pitchFamily="66" charset="0"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90" y="1199626"/>
            <a:ext cx="9401264" cy="515084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Spring Boot makes it easy to create stand-alone, production-grade Spring-based Applications that you can run</a:t>
            </a:r>
          </a:p>
          <a:p>
            <a:r>
              <a:rPr lang="en-US" dirty="0"/>
              <a:t>Without Spring boot:</a:t>
            </a:r>
          </a:p>
          <a:p>
            <a:pPr marL="0" indent="0">
              <a:buNone/>
            </a:pPr>
            <a:r>
              <a:rPr lang="en-US" dirty="0"/>
              <a:t>	Lot of </a:t>
            </a:r>
            <a:r>
              <a:rPr lang="en-US" sz="1600" dirty="0"/>
              <a:t>Spring configuration, dependency management, web server setup, boilerplate code, etc.</a:t>
            </a:r>
          </a:p>
          <a:p>
            <a:r>
              <a:rPr lang="en-US" dirty="0"/>
              <a:t>With Spring boot:</a:t>
            </a:r>
          </a:p>
          <a:p>
            <a:pPr marL="457200" lvl="1" indent="0">
              <a:buNone/>
            </a:pPr>
            <a:r>
              <a:rPr lang="en-US" dirty="0"/>
              <a:t>Provide Auto configuration, dependency management, reduce boilerplate code, embedded web server, no need of deployment descriptor, no need of XML configuration, reduces development time, etc.</a:t>
            </a:r>
          </a:p>
          <a:p>
            <a:pPr marL="342900" lvl="1" indent="-342900"/>
            <a:r>
              <a:rPr lang="en-US" sz="1800" dirty="0"/>
              <a:t>Spring boot starter projects:</a:t>
            </a:r>
          </a:p>
          <a:p>
            <a:pPr marL="0" lvl="1" indent="0">
              <a:buNone/>
            </a:pPr>
            <a:r>
              <a:rPr lang="en-US" sz="1800" dirty="0"/>
              <a:t>	</a:t>
            </a:r>
            <a:r>
              <a:rPr lang="en-US" dirty="0"/>
              <a:t>Set of convenient dependency descriptors that you can include in your application and will get the 	Spring and related technology we needed</a:t>
            </a:r>
          </a:p>
          <a:p>
            <a:pPr marL="0" lvl="1" indent="0">
              <a:buNone/>
            </a:pPr>
            <a:r>
              <a:rPr lang="en-US" sz="1800" dirty="0"/>
              <a:t>	</a:t>
            </a:r>
            <a:r>
              <a:rPr lang="en-US" dirty="0"/>
              <a:t>Eg: </a:t>
            </a:r>
            <a:r>
              <a:rPr lang="en-US" dirty="0">
                <a:solidFill>
                  <a:srgbClr val="0070C0"/>
                </a:solidFill>
              </a:rPr>
              <a:t>spring-boot-starter-parent</a:t>
            </a:r>
            <a:r>
              <a:rPr lang="en-US" dirty="0"/>
              <a:t> is a special starter that provides useful Maven defaults. It also 	provides a dependency-management section so that you can omit version tags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IN" sz="1600" dirty="0">
                <a:solidFill>
                  <a:srgbClr val="0070C0"/>
                </a:solidFill>
              </a:rPr>
              <a:t>spring-boot-starter-web </a:t>
            </a:r>
            <a:r>
              <a:rPr lang="en-IN" sz="1600" dirty="0"/>
              <a:t>starter </a:t>
            </a:r>
            <a:r>
              <a:rPr lang="en-US" sz="1600" dirty="0"/>
              <a:t>pulls all the dependencies related to web development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778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1C-D628-49D8-86E5-F1785DBE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442520"/>
            <a:ext cx="11375472" cy="88294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Auto configuration</a:t>
            </a:r>
            <a:br>
              <a:rPr lang="en-US" sz="5400" dirty="0">
                <a:cs typeface="Cavolini" panose="020B0502040204020203" pitchFamily="66" charset="0"/>
              </a:rPr>
            </a:br>
            <a:br>
              <a:rPr lang="en-US" sz="4000" dirty="0">
                <a:cs typeface="Cavolini" panose="020B0502040204020203" pitchFamily="66" charset="0"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97E9-EBB9-4BB9-863F-334E4199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89" y="1224792"/>
            <a:ext cx="9451597" cy="5125673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rgbClr val="0070C0"/>
                </a:solidFill>
              </a:rPr>
              <a:t>@</a:t>
            </a:r>
            <a:r>
              <a:rPr lang="en-IN" dirty="0" err="1">
                <a:solidFill>
                  <a:srgbClr val="0070C0"/>
                </a:solidFill>
              </a:rPr>
              <a:t>EnableAutoConfiguration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	Tell Spring Boot to “guess” how you want to configure Spring, based on the jar 	dependencies that you have added</a:t>
            </a:r>
          </a:p>
          <a:p>
            <a:r>
              <a:rPr lang="en-IN" dirty="0">
                <a:solidFill>
                  <a:schemeClr val="tx2"/>
                </a:solidFill>
              </a:rPr>
              <a:t>How to get the @Configuration classes for auto-configuration</a:t>
            </a:r>
          </a:p>
          <a:p>
            <a:pPr marL="457200" lvl="1" indent="0">
              <a:buNone/>
            </a:pPr>
            <a:r>
              <a:rPr lang="en-US" dirty="0"/>
              <a:t>Classes listed in the key </a:t>
            </a:r>
            <a:r>
              <a:rPr lang="en-IN" dirty="0" err="1">
                <a:solidFill>
                  <a:srgbClr val="0070C0"/>
                </a:solidFill>
              </a:rPr>
              <a:t>org.springframework.boot.autoconfigure.EnableAutoConfiguration</a:t>
            </a:r>
            <a:r>
              <a:rPr lang="en-IN" dirty="0"/>
              <a:t> from </a:t>
            </a:r>
            <a:r>
              <a:rPr lang="en-US" dirty="0">
                <a:solidFill>
                  <a:srgbClr val="0070C0"/>
                </a:solidFill>
              </a:rPr>
              <a:t>META-INF/</a:t>
            </a:r>
            <a:r>
              <a:rPr lang="en-US" dirty="0" err="1">
                <a:solidFill>
                  <a:srgbClr val="0070C0"/>
                </a:solidFill>
              </a:rPr>
              <a:t>spring.factories</a:t>
            </a:r>
            <a:endParaRPr lang="en-US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2"/>
                </a:solidFill>
              </a:rPr>
              <a:t>Note: starter projects are not using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@</a:t>
            </a:r>
            <a:r>
              <a:rPr lang="en-US" dirty="0" err="1">
                <a:solidFill>
                  <a:srgbClr val="0070C0"/>
                </a:solidFill>
              </a:rPr>
              <a:t>ComponetScan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to look for </a:t>
            </a:r>
            <a:r>
              <a:rPr lang="en-US" dirty="0">
                <a:solidFill>
                  <a:srgbClr val="0070C0"/>
                </a:solidFill>
              </a:rPr>
              <a:t>@Configuration </a:t>
            </a:r>
            <a:r>
              <a:rPr lang="en-US" dirty="0">
                <a:solidFill>
                  <a:schemeClr val="tx2"/>
                </a:solidFill>
              </a:rPr>
              <a:t>classes, also not provide any configuration class as application context constructor argument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IN" dirty="0">
                <a:solidFill>
                  <a:schemeClr val="tx2"/>
                </a:solidFill>
              </a:rPr>
              <a:t>Where to search for beans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</a:rPr>
              <a:t>	</a:t>
            </a:r>
            <a:r>
              <a:rPr lang="en-IN" dirty="0">
                <a:solidFill>
                  <a:srgbClr val="0070C0"/>
                </a:solidFill>
              </a:rPr>
              <a:t>@Configuration</a:t>
            </a:r>
            <a:r>
              <a:rPr lang="en-IN" dirty="0">
                <a:solidFill>
                  <a:schemeClr val="tx2"/>
                </a:solidFill>
              </a:rPr>
              <a:t> classes</a:t>
            </a:r>
          </a:p>
          <a:p>
            <a:r>
              <a:rPr lang="en-IN" dirty="0">
                <a:solidFill>
                  <a:schemeClr val="tx2"/>
                </a:solidFill>
              </a:rPr>
              <a:t>Criteria for bean creation through auto-configuration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</a:rPr>
              <a:t>	</a:t>
            </a:r>
            <a:r>
              <a:rPr lang="en-IN" dirty="0">
                <a:solidFill>
                  <a:srgbClr val="0070C0"/>
                </a:solidFill>
              </a:rPr>
              <a:t>@</a:t>
            </a:r>
            <a:r>
              <a:rPr lang="en-IN" dirty="0" err="1">
                <a:solidFill>
                  <a:srgbClr val="0070C0"/>
                </a:solidFill>
              </a:rPr>
              <a:t>ConditionalOnBean</a:t>
            </a:r>
            <a:r>
              <a:rPr lang="en-IN" dirty="0">
                <a:solidFill>
                  <a:srgbClr val="0070C0"/>
                </a:solidFill>
              </a:rPr>
              <a:t>, @</a:t>
            </a:r>
            <a:r>
              <a:rPr lang="en-IN" dirty="0" err="1">
                <a:solidFill>
                  <a:srgbClr val="0070C0"/>
                </a:solidFill>
              </a:rPr>
              <a:t>ConditionalOnMissingBean</a:t>
            </a:r>
            <a:r>
              <a:rPr lang="en-IN" dirty="0">
                <a:solidFill>
                  <a:srgbClr val="0070C0"/>
                </a:solidFill>
              </a:rPr>
              <a:t>, etc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6406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2254</TotalTime>
  <Words>1047</Words>
  <Application>Microsoft Macintosh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 Nile</vt:lpstr>
      <vt:lpstr>Arial</vt:lpstr>
      <vt:lpstr>Helvetica</vt:lpstr>
      <vt:lpstr>Trebuchet MS</vt:lpstr>
      <vt:lpstr>Wingdings 3</vt:lpstr>
      <vt:lpstr>Facet</vt:lpstr>
      <vt:lpstr>Basics of Spring, Spring MVC  and Spring Boot</vt:lpstr>
      <vt:lpstr> Agenda</vt:lpstr>
      <vt:lpstr> Without Spring  </vt:lpstr>
      <vt:lpstr> What is Spring  </vt:lpstr>
      <vt:lpstr> Spring container  </vt:lpstr>
      <vt:lpstr> Spring container initialization  </vt:lpstr>
      <vt:lpstr> Autowiring  </vt:lpstr>
      <vt:lpstr> Annotations  </vt:lpstr>
      <vt:lpstr> Spring MVC  </vt:lpstr>
      <vt:lpstr> Dispatcher Servlet  </vt:lpstr>
      <vt:lpstr> Annotations  </vt:lpstr>
      <vt:lpstr> Spring Boot  </vt:lpstr>
      <vt:lpstr> Auto configuration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Spring, Spring MVC  and Spring Boot</dc:title>
  <dc:creator>Manu Mathew</dc:creator>
  <cp:lastModifiedBy>Mathew, Manu</cp:lastModifiedBy>
  <cp:revision>76</cp:revision>
  <dcterms:created xsi:type="dcterms:W3CDTF">2020-05-18T11:03:30Z</dcterms:created>
  <dcterms:modified xsi:type="dcterms:W3CDTF">2021-06-05T07:37:29Z</dcterms:modified>
</cp:coreProperties>
</file>